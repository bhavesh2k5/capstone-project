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9" r:id="rId5"/>
    <p:sldId id="258" r:id="rId6"/>
    <p:sldId id="260" r:id="rId7"/>
    <p:sldId id="261" r:id="rId8"/>
    <p:sldId id="266" r:id="rId9"/>
    <p:sldId id="262" r:id="rId10"/>
    <p:sldId id="267" r:id="rId11"/>
    <p:sldId id="26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F3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2021" y="3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ESH MAKAM" userId="cde381d6f9e3c87b" providerId="LiveId" clId="{6A4D2EA8-9AC3-4511-AAD9-B0FC1542742D}"/>
    <pc:docChg chg="modSld">
      <pc:chgData name="BHAVESH MAKAM" userId="cde381d6f9e3c87b" providerId="LiveId" clId="{6A4D2EA8-9AC3-4511-AAD9-B0FC1542742D}" dt="2026-09-23T15:40:42.809" v="4" actId="1076"/>
      <pc:docMkLst>
        <pc:docMk/>
      </pc:docMkLst>
      <pc:sldChg chg="modSp mod">
        <pc:chgData name="BHAVESH MAKAM" userId="cde381d6f9e3c87b" providerId="LiveId" clId="{6A4D2EA8-9AC3-4511-AAD9-B0FC1542742D}" dt="2026-09-23T15:40:42.809" v="4" actId="1076"/>
        <pc:sldMkLst>
          <pc:docMk/>
          <pc:sldMk cId="2256919137" sldId="262"/>
        </pc:sldMkLst>
        <pc:picChg chg="mod">
          <ac:chgData name="BHAVESH MAKAM" userId="cde381d6f9e3c87b" providerId="LiveId" clId="{6A4D2EA8-9AC3-4511-AAD9-B0FC1542742D}" dt="2026-09-23T15:40:42.809" v="4" actId="1076"/>
          <ac:picMkLst>
            <pc:docMk/>
            <pc:sldMk cId="2256919137" sldId="262"/>
            <ac:picMk id="7" creationId="{604DBB31-B9DE-06E1-E690-854635606C32}"/>
          </ac:picMkLst>
        </pc:picChg>
      </pc:sldChg>
      <pc:sldChg chg="modSp mod">
        <pc:chgData name="BHAVESH MAKAM" userId="cde381d6f9e3c87b" providerId="LiveId" clId="{6A4D2EA8-9AC3-4511-AAD9-B0FC1542742D}" dt="2026-09-23T15:37:35.366" v="2" actId="14734"/>
        <pc:sldMkLst>
          <pc:docMk/>
          <pc:sldMk cId="962303744" sldId="266"/>
        </pc:sldMkLst>
        <pc:graphicFrameChg chg="modGraphic">
          <ac:chgData name="BHAVESH MAKAM" userId="cde381d6f9e3c87b" providerId="LiveId" clId="{6A4D2EA8-9AC3-4511-AAD9-B0FC1542742D}" dt="2026-09-23T15:37:35.366" v="2" actId="14734"/>
          <ac:graphicFrameMkLst>
            <pc:docMk/>
            <pc:sldMk cId="962303744" sldId="266"/>
            <ac:graphicFrameMk id="3" creationId="{BD98A45B-F51C-B455-3127-0A781E4D6011}"/>
          </ac:graphicFrameMkLst>
        </pc:graphicFrameChg>
      </pc:sldChg>
      <pc:sldChg chg="modSp mod">
        <pc:chgData name="BHAVESH MAKAM" userId="cde381d6f9e3c87b" providerId="LiveId" clId="{6A4D2EA8-9AC3-4511-AAD9-B0FC1542742D}" dt="2026-09-23T15:39:29.479" v="3" actId="14734"/>
        <pc:sldMkLst>
          <pc:docMk/>
          <pc:sldMk cId="2932833625" sldId="267"/>
        </pc:sldMkLst>
        <pc:graphicFrameChg chg="modGraphic">
          <ac:chgData name="BHAVESH MAKAM" userId="cde381d6f9e3c87b" providerId="LiveId" clId="{6A4D2EA8-9AC3-4511-AAD9-B0FC1542742D}" dt="2026-09-23T15:39:29.479" v="3" actId="14734"/>
          <ac:graphicFrameMkLst>
            <pc:docMk/>
            <pc:sldMk cId="2932833625" sldId="267"/>
            <ac:graphicFrameMk id="3" creationId="{84006E30-3A41-68F0-F4BF-52C210F52BF7}"/>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6EAFE-54DF-6833-5095-BED3D75BB3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F0271C-6AEF-6AEC-F788-DEC63F6D63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867E9D-9223-DEC1-BA99-2BED0C1E0C8D}"/>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5" name="Footer Placeholder 4">
            <a:extLst>
              <a:ext uri="{FF2B5EF4-FFF2-40B4-BE49-F238E27FC236}">
                <a16:creationId xmlns:a16="http://schemas.microsoft.com/office/drawing/2014/main" id="{67FF6D31-6806-3568-9918-314314DD40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4D4A38-5C2B-EF93-A25D-1BDCA8C92F22}"/>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2479570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6BBC-0307-609B-B47A-2FA54FE1A6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08D46B-3278-7CB8-528E-5713E053DF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3C8CC3-A63C-BE3D-EB2B-6A5DD7886D19}"/>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5" name="Footer Placeholder 4">
            <a:extLst>
              <a:ext uri="{FF2B5EF4-FFF2-40B4-BE49-F238E27FC236}">
                <a16:creationId xmlns:a16="http://schemas.microsoft.com/office/drawing/2014/main" id="{58437674-3D70-3481-C751-3BC1C706E6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E9221-4051-BDDE-D156-2B85066B3BB6}"/>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1841884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4065D-3EDA-A2DA-8F6E-CFE172C2CC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721E02-0BCC-8B2C-3BAD-2C1B738716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B8DA8A-C420-09EE-1DFC-ECE38E7D63DC}"/>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5" name="Footer Placeholder 4">
            <a:extLst>
              <a:ext uri="{FF2B5EF4-FFF2-40B4-BE49-F238E27FC236}">
                <a16:creationId xmlns:a16="http://schemas.microsoft.com/office/drawing/2014/main" id="{ACDB6F62-6349-B569-EF64-B96044C3F0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BE3892-35EF-9F15-A93D-04F7C6AF4568}"/>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311141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E41ED-B684-805D-A47C-FCD5344EB7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127F5E-48FB-CA99-212E-B3559EA4E2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208B0A-564D-3F11-AA55-736F4C63FA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CCA9B7-A16F-3215-C114-EC898FB05306}"/>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6" name="Footer Placeholder 5">
            <a:extLst>
              <a:ext uri="{FF2B5EF4-FFF2-40B4-BE49-F238E27FC236}">
                <a16:creationId xmlns:a16="http://schemas.microsoft.com/office/drawing/2014/main" id="{266AAAFD-8B0A-3626-9EBA-E472120FBB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1C9CD7-1D60-F627-97F3-F0C2F6C1697B}"/>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102795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A4744-D759-4889-F24E-0DE89F4C5B8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3FEC17-EBDC-387D-FACE-2CBEFA31AC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560A5-D4D5-C933-FED4-9E6A5A6646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C307FE-EC70-EB55-123C-2C14CDB4EC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C22850-CD22-8A2F-F3B0-F698A3BB95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C14F39-536F-63C2-2263-502BE022EB63}"/>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8" name="Footer Placeholder 7">
            <a:extLst>
              <a:ext uri="{FF2B5EF4-FFF2-40B4-BE49-F238E27FC236}">
                <a16:creationId xmlns:a16="http://schemas.microsoft.com/office/drawing/2014/main" id="{37C88A9F-CC96-7045-64FD-11BF470DEF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5A24E9-EBE8-F25B-3D5F-DB8F91565C5E}"/>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1162187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2165-D6FC-ED21-19FA-6A5B06302C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4D131E8-C079-2804-CA64-F017697C2202}"/>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4" name="Footer Placeholder 3">
            <a:extLst>
              <a:ext uri="{FF2B5EF4-FFF2-40B4-BE49-F238E27FC236}">
                <a16:creationId xmlns:a16="http://schemas.microsoft.com/office/drawing/2014/main" id="{1C8ECFE0-DAA1-C9EF-58F4-9B42FE928B1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BCE21E-F98A-A0BC-7A2F-5C72C681DE34}"/>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3387760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D93AD5-4E10-4877-F397-3FBA4327D430}"/>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3" name="Footer Placeholder 2">
            <a:extLst>
              <a:ext uri="{FF2B5EF4-FFF2-40B4-BE49-F238E27FC236}">
                <a16:creationId xmlns:a16="http://schemas.microsoft.com/office/drawing/2014/main" id="{1B5C0471-CE62-F074-91F5-860509A39D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C1D700-B02E-5970-7314-57B789EC0E69}"/>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2272750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8D920-DCE1-8B9D-2F81-10A32C9BD8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0EE535-A29D-C2EF-6D4C-A5EB040B20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2337FC-00A1-201E-693B-5D9353234E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7AEB51-E766-36D7-9441-29683CD48669}"/>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6" name="Footer Placeholder 5">
            <a:extLst>
              <a:ext uri="{FF2B5EF4-FFF2-40B4-BE49-F238E27FC236}">
                <a16:creationId xmlns:a16="http://schemas.microsoft.com/office/drawing/2014/main" id="{5BA3EB18-75AB-FEC9-92FF-AB368D60D2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EB6359-37D2-D21C-CFCC-883E5FB1CD7F}"/>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160462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80D53-1C71-CE2A-0039-C8BE51E77D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20900F-D77B-ED27-6599-DF899BDC1F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4B7CAE-3011-3BCD-07CE-A52FB87A1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D74D77-D567-4D37-CAC3-09C5AEE392A5}"/>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6" name="Footer Placeholder 5">
            <a:extLst>
              <a:ext uri="{FF2B5EF4-FFF2-40B4-BE49-F238E27FC236}">
                <a16:creationId xmlns:a16="http://schemas.microsoft.com/office/drawing/2014/main" id="{33EAD114-A903-C122-5D6A-261BDFA5A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4495D2-69BE-AC04-0E65-B3E025A7A047}"/>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1115388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C428-2B8A-EEC8-676D-00B11060AD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08E404-75A2-F7CA-2E9F-8BEAC201F0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6F263D-99FC-FE24-2086-EED1B1929756}"/>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5" name="Footer Placeholder 4">
            <a:extLst>
              <a:ext uri="{FF2B5EF4-FFF2-40B4-BE49-F238E27FC236}">
                <a16:creationId xmlns:a16="http://schemas.microsoft.com/office/drawing/2014/main" id="{42521964-75F3-CB3F-D6BB-D944FD7519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9E5C79-5F3E-A8FB-0C38-8B35E769F63B}"/>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2765117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0AF8CA-A3E4-D9D8-5CF7-CC92107A26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0CEB04-084F-1D3C-D724-D53D1481BB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8E3706-9AD8-6840-54F5-B9E5DD109AC3}"/>
              </a:ext>
            </a:extLst>
          </p:cNvPr>
          <p:cNvSpPr>
            <a:spLocks noGrp="1"/>
          </p:cNvSpPr>
          <p:nvPr>
            <p:ph type="dt" sz="half" idx="10"/>
          </p:nvPr>
        </p:nvSpPr>
        <p:spPr/>
        <p:txBody>
          <a:bodyPr/>
          <a:lstStyle/>
          <a:p>
            <a:fld id="{9A440D4B-F5B5-43B2-952B-34DBA28D17BC}" type="datetimeFigureOut">
              <a:rPr lang="en-IN" smtClean="0"/>
              <a:t>23-09-2026</a:t>
            </a:fld>
            <a:endParaRPr lang="en-IN"/>
          </a:p>
        </p:txBody>
      </p:sp>
      <p:sp>
        <p:nvSpPr>
          <p:cNvPr id="5" name="Footer Placeholder 4">
            <a:extLst>
              <a:ext uri="{FF2B5EF4-FFF2-40B4-BE49-F238E27FC236}">
                <a16:creationId xmlns:a16="http://schemas.microsoft.com/office/drawing/2014/main" id="{DA4784D4-C457-2E3D-40D9-738BEF24B7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7CB706-ADF9-D36B-D82C-070A889DB541}"/>
              </a:ext>
            </a:extLst>
          </p:cNvPr>
          <p:cNvSpPr>
            <a:spLocks noGrp="1"/>
          </p:cNvSpPr>
          <p:nvPr>
            <p:ph type="sldNum" sz="quarter" idx="12"/>
          </p:nvPr>
        </p:nvSpPr>
        <p:spPr/>
        <p:txBody>
          <a:bodyPr/>
          <a:lstStyle/>
          <a:p>
            <a:fld id="{14296898-14CA-4DF1-909B-DD3AD4CDBF28}" type="slidenum">
              <a:rPr lang="en-IN" smtClean="0"/>
              <a:t>‹#›</a:t>
            </a:fld>
            <a:endParaRPr lang="en-IN"/>
          </a:p>
        </p:txBody>
      </p:sp>
    </p:spTree>
    <p:extLst>
      <p:ext uri="{BB962C8B-B14F-4D97-AF65-F5344CB8AC3E}">
        <p14:creationId xmlns:p14="http://schemas.microsoft.com/office/powerpoint/2010/main" val="337140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F9404-7E80-41E2-7A0A-FFF04F952C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83BD4B-6E93-504B-BE2B-81A7E2F76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ED85C-A142-D0F8-B806-9F82E47FA9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440D4B-F5B5-43B2-952B-34DBA28D17BC}" type="datetimeFigureOut">
              <a:rPr lang="en-IN" smtClean="0"/>
              <a:t>23-09-2026</a:t>
            </a:fld>
            <a:endParaRPr lang="en-IN"/>
          </a:p>
        </p:txBody>
      </p:sp>
      <p:sp>
        <p:nvSpPr>
          <p:cNvPr id="5" name="Footer Placeholder 4">
            <a:extLst>
              <a:ext uri="{FF2B5EF4-FFF2-40B4-BE49-F238E27FC236}">
                <a16:creationId xmlns:a16="http://schemas.microsoft.com/office/drawing/2014/main" id="{355D9C3F-802B-6B33-7341-0F14258FD7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48598-2B19-F053-5996-4E2FD89989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296898-14CA-4DF1-909B-DD3AD4CDBF28}" type="slidenum">
              <a:rPr lang="en-IN" smtClean="0"/>
              <a:t>‹#›</a:t>
            </a:fld>
            <a:endParaRPr lang="en-IN"/>
          </a:p>
        </p:txBody>
      </p:sp>
    </p:spTree>
    <p:extLst>
      <p:ext uri="{BB962C8B-B14F-4D97-AF65-F5344CB8AC3E}">
        <p14:creationId xmlns:p14="http://schemas.microsoft.com/office/powerpoint/2010/main" val="1914407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B47"/>
        </a:solidFill>
        <a:effectLst/>
      </p:bgPr>
    </p:bg>
    <p:spTree>
      <p:nvGrpSpPr>
        <p:cNvPr id="1" name=""/>
        <p:cNvGrpSpPr/>
        <p:nvPr/>
      </p:nvGrpSpPr>
      <p:grpSpPr>
        <a:xfrm>
          <a:off x="0" y="0"/>
          <a:ext cx="0" cy="0"/>
          <a:chOff x="0" y="0"/>
          <a:chExt cx="0" cy="0"/>
        </a:xfrm>
      </p:grpSpPr>
      <p:sp>
        <p:nvSpPr>
          <p:cNvPr id="20" name="Deco Circle 1"/>
          <p:cNvSpPr/>
          <p:nvPr/>
        </p:nvSpPr>
        <p:spPr>
          <a:xfrm>
            <a:off x="8250000" y="2650000"/>
            <a:ext cx="5400000" cy="5400000"/>
          </a:xfrm>
          <a:prstGeom prst="ellipse">
            <a:avLst/>
          </a:prstGeom>
          <a:solidFill>
            <a:srgbClr val="4472C4">
              <a:alpha val="20000"/>
            </a:srgbClr>
          </a:solidFill>
          <a:ln>
            <a:noFill/>
          </a:ln>
        </p:spPr>
        <p:txBody>
          <a:bodyPr/>
          <a:lstStyle/>
          <a:p>
            <a:endParaRPr lang="en-US"/>
          </a:p>
        </p:txBody>
      </p:sp>
      <p:sp>
        <p:nvSpPr>
          <p:cNvPr id="21" name="Deco Circle 2"/>
          <p:cNvSpPr/>
          <p:nvPr/>
        </p:nvSpPr>
        <p:spPr>
          <a:xfrm>
            <a:off x="9750000" y="4150000"/>
            <a:ext cx="2400000" cy="2400000"/>
          </a:xfrm>
          <a:prstGeom prst="ellipse">
            <a:avLst/>
          </a:prstGeom>
          <a:solidFill>
            <a:srgbClr val="ED7D31">
              <a:alpha val="55000"/>
            </a:srgbClr>
          </a:solidFill>
          <a:ln>
            <a:noFill/>
          </a:ln>
        </p:spPr>
        <p:txBody>
          <a:bodyPr/>
          <a:lstStyle/>
          <a:p>
            <a:endParaRPr lang="en-US"/>
          </a:p>
        </p:txBody>
      </p:sp>
      <p:sp>
        <p:nvSpPr>
          <p:cNvPr id="22" name="Kicker"/>
          <p:cNvSpPr txBox="1"/>
          <p:nvPr/>
        </p:nvSpPr>
        <p:spPr>
          <a:xfrm>
            <a:off x="838200" y="1152525"/>
            <a:ext cx="7275871" cy="369332"/>
          </a:xfrm>
          <a:prstGeom prst="rect">
            <a:avLst/>
          </a:prstGeom>
          <a:noFill/>
        </p:spPr>
        <p:txBody>
          <a:bodyPr wrap="square" anchor="b">
            <a:noAutofit/>
          </a:bodyPr>
          <a:lstStyle/>
          <a:p>
            <a:pPr algn="r"/>
            <a:r>
              <a:rPr lang="en-US" sz="1400" b="1" spc="200" dirty="0">
                <a:solidFill>
                  <a:srgbClr val="8FAADC"/>
                </a:solidFill>
              </a:rPr>
              <a:t>CAPSTONE PROJECT REVIEW</a:t>
            </a:r>
          </a:p>
        </p:txBody>
      </p:sp>
      <p:sp>
        <p:nvSpPr>
          <p:cNvPr id="7" name="TextBox 6">
            <a:extLst>
              <a:ext uri="{FF2B5EF4-FFF2-40B4-BE49-F238E27FC236}">
                <a16:creationId xmlns:a16="http://schemas.microsoft.com/office/drawing/2014/main" id="{5CA90BA6-7CD5-B91D-A5A5-E6D43BFB1190}"/>
              </a:ext>
            </a:extLst>
          </p:cNvPr>
          <p:cNvSpPr txBox="1"/>
          <p:nvPr/>
        </p:nvSpPr>
        <p:spPr>
          <a:xfrm>
            <a:off x="838200" y="1560195"/>
            <a:ext cx="7275871" cy="1754326"/>
          </a:xfrm>
          <a:prstGeom prst="rect">
            <a:avLst/>
          </a:prstGeom>
          <a:noFill/>
        </p:spPr>
        <p:txBody>
          <a:bodyPr wrap="square">
            <a:spAutoFit/>
          </a:bodyPr>
          <a:lstStyle/>
          <a:p>
            <a:pPr algn="r"/>
            <a:r>
              <a:rPr lang="en-IN" sz="3600" b="1" dirty="0">
                <a:solidFill>
                  <a:schemeClr val="bg1"/>
                </a:solidFill>
              </a:rPr>
              <a:t>VL-JEPA vs. CLIP for CCTV Event Retrieval: Efficiency, Generalization, and Faithful Report Generation</a:t>
            </a:r>
          </a:p>
        </p:txBody>
      </p:sp>
      <p:sp>
        <p:nvSpPr>
          <p:cNvPr id="12" name="TextBox 11">
            <a:extLst>
              <a:ext uri="{FF2B5EF4-FFF2-40B4-BE49-F238E27FC236}">
                <a16:creationId xmlns:a16="http://schemas.microsoft.com/office/drawing/2014/main" id="{5F1FA5F6-25FC-997F-2DF9-0437497C462F}"/>
              </a:ext>
            </a:extLst>
          </p:cNvPr>
          <p:cNvSpPr txBox="1"/>
          <p:nvPr/>
        </p:nvSpPr>
        <p:spPr>
          <a:xfrm>
            <a:off x="4436129" y="3402521"/>
            <a:ext cx="3677942" cy="500000"/>
          </a:xfrm>
          <a:prstGeom prst="rect">
            <a:avLst/>
          </a:prstGeom>
          <a:noFill/>
        </p:spPr>
        <p:txBody>
          <a:bodyPr wrap="square">
            <a:spAutoFit/>
          </a:bodyPr>
          <a:lstStyle/>
          <a:p>
            <a:pPr algn="r"/>
            <a:r>
              <a:rPr lang="en-IN" sz="1800" i="1" dirty="0">
                <a:solidFill>
                  <a:srgbClr val="ED7D31"/>
                </a:solidFill>
              </a:rPr>
              <a:t>“From Footage to Facts.”</a:t>
            </a:r>
          </a:p>
        </p:txBody>
      </p:sp>
      <p:sp>
        <p:nvSpPr>
          <p:cNvPr id="10" name="TextBox 9">
            <a:extLst>
              <a:ext uri="{FF2B5EF4-FFF2-40B4-BE49-F238E27FC236}">
                <a16:creationId xmlns:a16="http://schemas.microsoft.com/office/drawing/2014/main" id="{1A52A6CE-AD96-DBF1-ABC1-87EF0BE17CF5}"/>
              </a:ext>
            </a:extLst>
          </p:cNvPr>
          <p:cNvSpPr txBox="1"/>
          <p:nvPr/>
        </p:nvSpPr>
        <p:spPr>
          <a:xfrm>
            <a:off x="838200" y="5450000"/>
            <a:ext cx="4758813" cy="1154326"/>
          </a:xfrm>
          <a:prstGeom prst="rect">
            <a:avLst/>
          </a:prstGeom>
          <a:noFill/>
        </p:spPr>
        <p:txBody>
          <a:bodyPr wrap="square">
            <a:spAutoFit/>
          </a:bodyPr>
          <a:lstStyle/>
          <a:p>
            <a:r>
              <a:rPr lang="en-US" sz="1500" b="1" dirty="0">
                <a:solidFill>
                  <a:srgbClr val="8FAADC"/>
                </a:solidFill>
              </a:rPr>
              <a:t>Team Members</a:t>
            </a:r>
          </a:p>
          <a:p>
            <a:pPr marL="342900" indent="-342900">
              <a:buClr>
                <a:srgbClr val="8FAADC"/>
              </a:buClr>
              <a:buAutoNum type="arabicParenR"/>
            </a:pPr>
            <a:r>
              <a:rPr lang="en-US" sz="1400" dirty="0">
                <a:solidFill>
                  <a:schemeClr val="bg1"/>
                </a:solidFill>
              </a:rPr>
              <a:t>M. Bhavesh – 23BCE9663</a:t>
            </a:r>
          </a:p>
          <a:p>
            <a:pPr marL="342900" indent="-342900">
              <a:buClr>
                <a:srgbClr val="8FAADC"/>
              </a:buClr>
              <a:buAutoNum type="arabicParenR"/>
            </a:pPr>
            <a:r>
              <a:rPr lang="en-US" sz="1400" dirty="0">
                <a:solidFill>
                  <a:schemeClr val="bg1"/>
                </a:solidFill>
              </a:rPr>
              <a:t>N. Manmohan Reddy – 23BCE9942</a:t>
            </a:r>
          </a:p>
          <a:p>
            <a:pPr marL="342900" indent="-342900">
              <a:buClr>
                <a:srgbClr val="8FAADC"/>
              </a:buClr>
              <a:buAutoNum type="arabicParenR"/>
            </a:pPr>
            <a:r>
              <a:rPr lang="en-US" sz="1400" dirty="0">
                <a:solidFill>
                  <a:schemeClr val="bg1"/>
                </a:solidFill>
              </a:rPr>
              <a:t>A. </a:t>
            </a:r>
            <a:r>
              <a:rPr lang="en-US" sz="1400" dirty="0" err="1">
                <a:solidFill>
                  <a:schemeClr val="bg1"/>
                </a:solidFill>
              </a:rPr>
              <a:t>JayaPrakash</a:t>
            </a:r>
            <a:r>
              <a:rPr lang="en-US" sz="1400" dirty="0">
                <a:solidFill>
                  <a:schemeClr val="bg1"/>
                </a:solidFill>
              </a:rPr>
              <a:t> – 23BCE9945</a:t>
            </a:r>
          </a:p>
          <a:p>
            <a:pPr marL="342900" indent="-342900">
              <a:buClr>
                <a:srgbClr val="8FAADC"/>
              </a:buClr>
              <a:buAutoNum type="arabicParenR"/>
            </a:pPr>
            <a:r>
              <a:rPr lang="en-US" sz="1400" dirty="0">
                <a:solidFill>
                  <a:schemeClr val="bg1"/>
                </a:solidFill>
              </a:rPr>
              <a:t>K. Avinash – 23BCE7509</a:t>
            </a:r>
            <a:endParaRPr lang="en-IN" sz="1400" dirty="0">
              <a:solidFill>
                <a:schemeClr val="bg1"/>
              </a:solidFill>
            </a:endParaRPr>
          </a:p>
        </p:txBody>
      </p:sp>
    </p:spTree>
    <p:extLst>
      <p:ext uri="{BB962C8B-B14F-4D97-AF65-F5344CB8AC3E}">
        <p14:creationId xmlns:p14="http://schemas.microsoft.com/office/powerpoint/2010/main" val="42098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131B4-2E8C-1E79-1D47-923BA9C65C22}"/>
              </a:ext>
            </a:extLst>
          </p:cNvPr>
          <p:cNvSpPr>
            <a:spLocks noGrp="1"/>
          </p:cNvSpPr>
          <p:nvPr>
            <p:ph type="title"/>
          </p:nvPr>
        </p:nvSpPr>
        <p:spPr>
          <a:xfrm>
            <a:off x="838200" y="456565"/>
            <a:ext cx="4000000" cy="814746"/>
          </a:xfrm>
        </p:spPr>
        <p:txBody>
          <a:bodyPr/>
          <a:lstStyle/>
          <a:p>
            <a:r>
              <a:rPr lang="en-US" sz="3600" b="1" dirty="0">
                <a:solidFill>
                  <a:srgbClr val="1F2B47"/>
                </a:solidFill>
              </a:rPr>
              <a:t>Index</a:t>
            </a:r>
            <a:endParaRPr lang="en-IN" sz="3600" b="1" dirty="0">
              <a:solidFill>
                <a:srgbClr val="1F2B47"/>
              </a:solidFill>
            </a:endParaRPr>
          </a:p>
        </p:txBody>
      </p:sp>
      <p:sp>
        <p:nvSpPr>
          <p:cNvPr id="100" name="Badge 01"/>
          <p:cNvSpPr/>
          <p:nvPr/>
        </p:nvSpPr>
        <p:spPr>
          <a:xfrm>
            <a:off x="838200" y="175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01</a:t>
            </a:r>
          </a:p>
        </p:txBody>
      </p:sp>
      <p:sp>
        <p:nvSpPr>
          <p:cNvPr id="101" name="Label 01"/>
          <p:cNvSpPr txBox="1"/>
          <p:nvPr/>
        </p:nvSpPr>
        <p:spPr>
          <a:xfrm>
            <a:off x="1518200" y="1750000"/>
            <a:ext cx="3600000" cy="502920"/>
          </a:xfrm>
          <a:prstGeom prst="rect">
            <a:avLst/>
          </a:prstGeom>
          <a:noFill/>
        </p:spPr>
        <p:txBody>
          <a:bodyPr wrap="square" anchor="ctr">
            <a:noAutofit/>
          </a:bodyPr>
          <a:lstStyle/>
          <a:p>
            <a:r>
              <a:rPr lang="en-US" sz="1800" b="1" dirty="0">
                <a:solidFill>
                  <a:srgbClr val="1F2B47"/>
                </a:solidFill>
              </a:rPr>
              <a:t>Problem Statement</a:t>
            </a:r>
          </a:p>
        </p:txBody>
      </p:sp>
      <p:sp>
        <p:nvSpPr>
          <p:cNvPr id="102" name="Badge 02"/>
          <p:cNvSpPr/>
          <p:nvPr/>
        </p:nvSpPr>
        <p:spPr>
          <a:xfrm>
            <a:off x="838200" y="270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02</a:t>
            </a:r>
          </a:p>
        </p:txBody>
      </p:sp>
      <p:sp>
        <p:nvSpPr>
          <p:cNvPr id="103" name="Label 02"/>
          <p:cNvSpPr txBox="1"/>
          <p:nvPr/>
        </p:nvSpPr>
        <p:spPr>
          <a:xfrm>
            <a:off x="1518200" y="2700000"/>
            <a:ext cx="3600000" cy="502920"/>
          </a:xfrm>
          <a:prstGeom prst="rect">
            <a:avLst/>
          </a:prstGeom>
          <a:noFill/>
        </p:spPr>
        <p:txBody>
          <a:bodyPr wrap="square" anchor="ctr">
            <a:noAutofit/>
          </a:bodyPr>
          <a:lstStyle/>
          <a:p>
            <a:r>
              <a:rPr lang="en-US" sz="1800" b="1" dirty="0">
                <a:solidFill>
                  <a:srgbClr val="1F2B47"/>
                </a:solidFill>
              </a:rPr>
              <a:t>Motivation</a:t>
            </a:r>
          </a:p>
        </p:txBody>
      </p:sp>
      <p:sp>
        <p:nvSpPr>
          <p:cNvPr id="104" name="Badge 03"/>
          <p:cNvSpPr/>
          <p:nvPr/>
        </p:nvSpPr>
        <p:spPr>
          <a:xfrm>
            <a:off x="838200" y="365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03</a:t>
            </a:r>
          </a:p>
        </p:txBody>
      </p:sp>
      <p:sp>
        <p:nvSpPr>
          <p:cNvPr id="105" name="Label 03"/>
          <p:cNvSpPr txBox="1"/>
          <p:nvPr/>
        </p:nvSpPr>
        <p:spPr>
          <a:xfrm>
            <a:off x="1518200" y="3650000"/>
            <a:ext cx="3600000" cy="502920"/>
          </a:xfrm>
          <a:prstGeom prst="rect">
            <a:avLst/>
          </a:prstGeom>
          <a:noFill/>
        </p:spPr>
        <p:txBody>
          <a:bodyPr wrap="square" anchor="ctr">
            <a:noAutofit/>
          </a:bodyPr>
          <a:lstStyle/>
          <a:p>
            <a:r>
              <a:rPr lang="en-US" sz="1800" b="1" dirty="0">
                <a:solidFill>
                  <a:srgbClr val="1F2B47"/>
                </a:solidFill>
              </a:rPr>
              <a:t>Objectives</a:t>
            </a:r>
          </a:p>
        </p:txBody>
      </p:sp>
      <p:sp>
        <p:nvSpPr>
          <p:cNvPr id="106" name="Badge 04"/>
          <p:cNvSpPr/>
          <p:nvPr/>
        </p:nvSpPr>
        <p:spPr>
          <a:xfrm>
            <a:off x="838200" y="460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04</a:t>
            </a:r>
          </a:p>
        </p:txBody>
      </p:sp>
      <p:sp>
        <p:nvSpPr>
          <p:cNvPr id="107" name="Label 04"/>
          <p:cNvSpPr txBox="1"/>
          <p:nvPr/>
        </p:nvSpPr>
        <p:spPr>
          <a:xfrm>
            <a:off x="1518200" y="4600000"/>
            <a:ext cx="3600000" cy="502920"/>
          </a:xfrm>
          <a:prstGeom prst="rect">
            <a:avLst/>
          </a:prstGeom>
          <a:noFill/>
        </p:spPr>
        <p:txBody>
          <a:bodyPr wrap="square" anchor="ctr">
            <a:noAutofit/>
          </a:bodyPr>
          <a:lstStyle/>
          <a:p>
            <a:r>
              <a:rPr lang="en-US" sz="1800" b="1" dirty="0">
                <a:solidFill>
                  <a:srgbClr val="1F2B47"/>
                </a:solidFill>
              </a:rPr>
              <a:t>Hypothesis</a:t>
            </a:r>
          </a:p>
        </p:txBody>
      </p:sp>
      <p:sp>
        <p:nvSpPr>
          <p:cNvPr id="110" name="Badge 06"/>
          <p:cNvSpPr/>
          <p:nvPr/>
        </p:nvSpPr>
        <p:spPr>
          <a:xfrm>
            <a:off x="6447800" y="175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06</a:t>
            </a:r>
          </a:p>
        </p:txBody>
      </p:sp>
      <p:sp>
        <p:nvSpPr>
          <p:cNvPr id="111" name="Label 06"/>
          <p:cNvSpPr txBox="1"/>
          <p:nvPr/>
        </p:nvSpPr>
        <p:spPr>
          <a:xfrm>
            <a:off x="7127800" y="1750000"/>
            <a:ext cx="3600000" cy="502920"/>
          </a:xfrm>
          <a:prstGeom prst="rect">
            <a:avLst/>
          </a:prstGeom>
          <a:noFill/>
        </p:spPr>
        <p:txBody>
          <a:bodyPr wrap="square" anchor="ctr">
            <a:noAutofit/>
          </a:bodyPr>
          <a:lstStyle/>
          <a:p>
            <a:r>
              <a:rPr lang="en-US" sz="1800" b="1" dirty="0">
                <a:solidFill>
                  <a:srgbClr val="1F2B47"/>
                </a:solidFill>
              </a:rPr>
              <a:t>Subject Knowledge</a:t>
            </a:r>
          </a:p>
        </p:txBody>
      </p:sp>
      <p:sp>
        <p:nvSpPr>
          <p:cNvPr id="112" name="Badge 07"/>
          <p:cNvSpPr/>
          <p:nvPr/>
        </p:nvSpPr>
        <p:spPr>
          <a:xfrm>
            <a:off x="6464920" y="460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09</a:t>
            </a:r>
          </a:p>
        </p:txBody>
      </p:sp>
      <p:sp>
        <p:nvSpPr>
          <p:cNvPr id="113" name="Label 07"/>
          <p:cNvSpPr txBox="1"/>
          <p:nvPr/>
        </p:nvSpPr>
        <p:spPr>
          <a:xfrm>
            <a:off x="7144920" y="4600000"/>
            <a:ext cx="3600000" cy="502920"/>
          </a:xfrm>
          <a:prstGeom prst="rect">
            <a:avLst/>
          </a:prstGeom>
          <a:noFill/>
        </p:spPr>
        <p:txBody>
          <a:bodyPr wrap="square" anchor="ctr">
            <a:noAutofit/>
          </a:bodyPr>
          <a:lstStyle/>
          <a:p>
            <a:r>
              <a:rPr lang="en-US" sz="1800" b="1" dirty="0">
                <a:solidFill>
                  <a:srgbClr val="1F2B47"/>
                </a:solidFill>
              </a:rPr>
              <a:t>Timeline</a:t>
            </a:r>
          </a:p>
        </p:txBody>
      </p:sp>
      <p:sp>
        <p:nvSpPr>
          <p:cNvPr id="114" name="Badge 08"/>
          <p:cNvSpPr/>
          <p:nvPr/>
        </p:nvSpPr>
        <p:spPr>
          <a:xfrm>
            <a:off x="6447800" y="555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10</a:t>
            </a:r>
          </a:p>
        </p:txBody>
      </p:sp>
      <p:sp>
        <p:nvSpPr>
          <p:cNvPr id="115" name="Label 08"/>
          <p:cNvSpPr txBox="1"/>
          <p:nvPr/>
        </p:nvSpPr>
        <p:spPr>
          <a:xfrm>
            <a:off x="7127800" y="5550000"/>
            <a:ext cx="3600000" cy="502920"/>
          </a:xfrm>
          <a:prstGeom prst="rect">
            <a:avLst/>
          </a:prstGeom>
          <a:noFill/>
        </p:spPr>
        <p:txBody>
          <a:bodyPr wrap="square" anchor="ctr">
            <a:noAutofit/>
          </a:bodyPr>
          <a:lstStyle/>
          <a:p>
            <a:r>
              <a:rPr lang="en-US" sz="1800" b="1" dirty="0">
                <a:solidFill>
                  <a:srgbClr val="1F2B47"/>
                </a:solidFill>
              </a:rPr>
              <a:t>Data</a:t>
            </a:r>
          </a:p>
        </p:txBody>
      </p:sp>
      <p:sp>
        <p:nvSpPr>
          <p:cNvPr id="199" name="Divider"/>
          <p:cNvSpPr/>
          <p:nvPr/>
        </p:nvSpPr>
        <p:spPr>
          <a:xfrm flipH="1">
            <a:off x="6096000" y="1750000"/>
            <a:ext cx="54000" cy="4539040"/>
          </a:xfrm>
          <a:prstGeom prst="rect">
            <a:avLst/>
          </a:prstGeom>
          <a:solidFill>
            <a:srgbClr val="D9D9D9"/>
          </a:solidFill>
          <a:ln>
            <a:noFill/>
          </a:ln>
        </p:spPr>
        <p:txBody>
          <a:bodyPr/>
          <a:lstStyle/>
          <a:p>
            <a:endParaRPr lang="en-US"/>
          </a:p>
        </p:txBody>
      </p:sp>
      <p:sp>
        <p:nvSpPr>
          <p:cNvPr id="4" name="Badge 05">
            <a:extLst>
              <a:ext uri="{FF2B5EF4-FFF2-40B4-BE49-F238E27FC236}">
                <a16:creationId xmlns:a16="http://schemas.microsoft.com/office/drawing/2014/main" id="{C81AAF67-CC33-D04D-1625-375D5784C4E3}"/>
              </a:ext>
            </a:extLst>
          </p:cNvPr>
          <p:cNvSpPr/>
          <p:nvPr/>
        </p:nvSpPr>
        <p:spPr>
          <a:xfrm>
            <a:off x="838200" y="555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05</a:t>
            </a:r>
          </a:p>
        </p:txBody>
      </p:sp>
      <p:sp>
        <p:nvSpPr>
          <p:cNvPr id="6" name="Label 05">
            <a:extLst>
              <a:ext uri="{FF2B5EF4-FFF2-40B4-BE49-F238E27FC236}">
                <a16:creationId xmlns:a16="http://schemas.microsoft.com/office/drawing/2014/main" id="{47957CE2-D8D8-5DBF-C233-E0FC151A4BE0}"/>
              </a:ext>
            </a:extLst>
          </p:cNvPr>
          <p:cNvSpPr txBox="1"/>
          <p:nvPr/>
        </p:nvSpPr>
        <p:spPr>
          <a:xfrm>
            <a:off x="1518200" y="5550000"/>
            <a:ext cx="3600000" cy="502920"/>
          </a:xfrm>
          <a:prstGeom prst="rect">
            <a:avLst/>
          </a:prstGeom>
          <a:noFill/>
        </p:spPr>
        <p:txBody>
          <a:bodyPr wrap="square" anchor="ctr">
            <a:noAutofit/>
          </a:bodyPr>
          <a:lstStyle/>
          <a:p>
            <a:r>
              <a:rPr lang="en-US" sz="1800" b="1" dirty="0">
                <a:solidFill>
                  <a:srgbClr val="1F2B47"/>
                </a:solidFill>
              </a:rPr>
              <a:t>Problem Survey</a:t>
            </a:r>
          </a:p>
        </p:txBody>
      </p:sp>
      <p:sp>
        <p:nvSpPr>
          <p:cNvPr id="9" name="Badge 08">
            <a:extLst>
              <a:ext uri="{FF2B5EF4-FFF2-40B4-BE49-F238E27FC236}">
                <a16:creationId xmlns:a16="http://schemas.microsoft.com/office/drawing/2014/main" id="{7F5FABEF-BFC5-7779-AE3E-11965A810732}"/>
              </a:ext>
            </a:extLst>
          </p:cNvPr>
          <p:cNvSpPr/>
          <p:nvPr/>
        </p:nvSpPr>
        <p:spPr>
          <a:xfrm>
            <a:off x="6447800" y="272288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07</a:t>
            </a:r>
          </a:p>
        </p:txBody>
      </p:sp>
      <p:sp>
        <p:nvSpPr>
          <p:cNvPr id="11" name="Label 08">
            <a:extLst>
              <a:ext uri="{FF2B5EF4-FFF2-40B4-BE49-F238E27FC236}">
                <a16:creationId xmlns:a16="http://schemas.microsoft.com/office/drawing/2014/main" id="{657C5C0F-52BB-4E04-3D46-00D632E9CEB5}"/>
              </a:ext>
            </a:extLst>
          </p:cNvPr>
          <p:cNvSpPr txBox="1"/>
          <p:nvPr/>
        </p:nvSpPr>
        <p:spPr>
          <a:xfrm>
            <a:off x="7248520" y="2722880"/>
            <a:ext cx="3600000" cy="480040"/>
          </a:xfrm>
          <a:prstGeom prst="rect">
            <a:avLst/>
          </a:prstGeom>
          <a:noFill/>
        </p:spPr>
        <p:txBody>
          <a:bodyPr wrap="square" anchor="ctr">
            <a:noAutofit/>
          </a:bodyPr>
          <a:lstStyle/>
          <a:p>
            <a:pPr algn="ctr"/>
            <a:r>
              <a:rPr lang="en-US" b="1" dirty="0"/>
              <a:t>Comparison among existing systems</a:t>
            </a:r>
            <a:endParaRPr lang="en-IN" dirty="0"/>
          </a:p>
        </p:txBody>
      </p:sp>
      <p:sp>
        <p:nvSpPr>
          <p:cNvPr id="19" name="Badge 07">
            <a:extLst>
              <a:ext uri="{FF2B5EF4-FFF2-40B4-BE49-F238E27FC236}">
                <a16:creationId xmlns:a16="http://schemas.microsoft.com/office/drawing/2014/main" id="{72011EA9-904E-C875-9D80-345E8021FF48}"/>
              </a:ext>
            </a:extLst>
          </p:cNvPr>
          <p:cNvSpPr/>
          <p:nvPr/>
        </p:nvSpPr>
        <p:spPr>
          <a:xfrm>
            <a:off x="6464920" y="3650000"/>
            <a:ext cx="502920" cy="502920"/>
          </a:xfrm>
          <a:prstGeom prst="ellipse">
            <a:avLst/>
          </a:prstGeom>
          <a:solidFill>
            <a:srgbClr val="44546A"/>
          </a:solidFill>
          <a:ln>
            <a:noFill/>
          </a:ln>
        </p:spPr>
        <p:txBody>
          <a:bodyPr lIns="0" tIns="0" rIns="0" bIns="0" anchor="ctr"/>
          <a:lstStyle/>
          <a:p>
            <a:pPr algn="ctr"/>
            <a:r>
              <a:rPr lang="en-US" sz="1400" b="1" dirty="0">
                <a:solidFill>
                  <a:schemeClr val="bg1"/>
                </a:solidFill>
              </a:rPr>
              <a:t>08</a:t>
            </a:r>
          </a:p>
        </p:txBody>
      </p:sp>
      <p:sp>
        <p:nvSpPr>
          <p:cNvPr id="21" name="Label 07">
            <a:extLst>
              <a:ext uri="{FF2B5EF4-FFF2-40B4-BE49-F238E27FC236}">
                <a16:creationId xmlns:a16="http://schemas.microsoft.com/office/drawing/2014/main" id="{8F73B25F-A3AC-C6E4-FB91-3AE16D94F2D4}"/>
              </a:ext>
            </a:extLst>
          </p:cNvPr>
          <p:cNvSpPr txBox="1"/>
          <p:nvPr/>
        </p:nvSpPr>
        <p:spPr>
          <a:xfrm>
            <a:off x="7144920" y="3650000"/>
            <a:ext cx="3600000" cy="502920"/>
          </a:xfrm>
          <a:prstGeom prst="rect">
            <a:avLst/>
          </a:prstGeom>
          <a:noFill/>
        </p:spPr>
        <p:txBody>
          <a:bodyPr wrap="square" anchor="ctr">
            <a:noAutofit/>
          </a:bodyPr>
          <a:lstStyle/>
          <a:p>
            <a:r>
              <a:rPr lang="en-US" b="1" dirty="0"/>
              <a:t>Technical Requirements</a:t>
            </a:r>
            <a:endParaRPr lang="en-US" sz="1800" b="1" dirty="0">
              <a:solidFill>
                <a:srgbClr val="1F2B47"/>
              </a:solidFill>
            </a:endParaRPr>
          </a:p>
        </p:txBody>
      </p:sp>
    </p:spTree>
    <p:extLst>
      <p:ext uri="{BB962C8B-B14F-4D97-AF65-F5344CB8AC3E}">
        <p14:creationId xmlns:p14="http://schemas.microsoft.com/office/powerpoint/2010/main" val="4167160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01</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Problem Statement</a:t>
            </a:r>
          </a:p>
        </p:txBody>
      </p:sp>
      <p:sp>
        <p:nvSpPr>
          <p:cNvPr id="95" name="Card"/>
          <p:cNvSpPr/>
          <p:nvPr/>
        </p:nvSpPr>
        <p:spPr>
          <a:xfrm>
            <a:off x="838200" y="1400000"/>
            <a:ext cx="10515600" cy="38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5" name="TextBox 4"/>
          <p:cNvSpPr txBox="1"/>
          <p:nvPr/>
        </p:nvSpPr>
        <p:spPr>
          <a:xfrm>
            <a:off x="1238200" y="1700000"/>
            <a:ext cx="9715600" cy="3200000"/>
          </a:xfrm>
          <a:prstGeom prst="rect">
            <a:avLst/>
          </a:prstGeom>
          <a:noFill/>
        </p:spPr>
        <p:txBody>
          <a:bodyPr wrap="square" anchor="ctr">
            <a:noAutofit/>
          </a:bodyPr>
          <a:lstStyle/>
          <a:p>
            <a:pPr algn="just">
              <a:lnSpc>
                <a:spcPct val="145000"/>
              </a:lnSpc>
            </a:pPr>
            <a:r>
              <a:rPr lang="en-US" sz="1700" dirty="0">
                <a:solidFill>
                  <a:srgbClr val="333333"/>
                </a:solidFill>
              </a:rPr>
              <a:t>Industrial and surveillance CCTV systems generate large volumes of video, making it difficult to efficiently locate relevant events using conventional frame-based or manually indexed approaches. Vision-language representations such as CLIP enable semantic retrieval using natural-language queries, but their effectiveness can vary across surveillance environments, camera viewpoints, and event types. The recently proposed VL-JEPA provides an alternative vision-language representation based on joint-embedding prediction, but its suitability for CCTV event retrieval under resource-constrained conditions has not been sufficiently evaluated. Furthermore, when retrieved CCTV evidence is converted into natural-language incident reports using LLMs, the generated reports may contain unsupported or hallucinated information. Therefore, there is a need for a lightweight and reproducible framework to compare pretrained VL-JEPA and CLIP representations for CCTV event retrieval, evaluate their performance under limited domain shifts, and assess the factual faithfulness of generated surveillance reports.</a:t>
            </a:r>
            <a:endParaRPr lang="en-IN" sz="1700" dirty="0">
              <a:solidFill>
                <a:srgbClr val="333333"/>
              </a:solidFill>
            </a:endParaRPr>
          </a:p>
        </p:txBody>
      </p:sp>
    </p:spTree>
    <p:extLst>
      <p:ext uri="{BB962C8B-B14F-4D97-AF65-F5344CB8AC3E}">
        <p14:creationId xmlns:p14="http://schemas.microsoft.com/office/powerpoint/2010/main" val="3830409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02</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Motivation</a:t>
            </a:r>
          </a:p>
        </p:txBody>
      </p:sp>
      <p:sp>
        <p:nvSpPr>
          <p:cNvPr id="95" name="Card"/>
          <p:cNvSpPr/>
          <p:nvPr/>
        </p:nvSpPr>
        <p:spPr>
          <a:xfrm>
            <a:off x="838200" y="1400000"/>
            <a:ext cx="10515600" cy="38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5" name="TextBox 4"/>
          <p:cNvSpPr txBox="1"/>
          <p:nvPr/>
        </p:nvSpPr>
        <p:spPr>
          <a:xfrm>
            <a:off x="1238200" y="1700000"/>
            <a:ext cx="9715600" cy="3200000"/>
          </a:xfrm>
          <a:prstGeom prst="rect">
            <a:avLst/>
          </a:prstGeom>
          <a:noFill/>
        </p:spPr>
        <p:txBody>
          <a:bodyPr wrap="square" anchor="ctr">
            <a:noAutofit/>
          </a:bodyPr>
          <a:lstStyle/>
          <a:p>
            <a:pPr algn="just">
              <a:lnSpc>
                <a:spcPct val="145000"/>
              </a:lnSpc>
            </a:pPr>
            <a:r>
              <a:rPr lang="en-IN" sz="1700" dirty="0">
                <a:solidFill>
                  <a:srgbClr val="333333"/>
                </a:solidFill>
              </a:rPr>
              <a:t>The increasing volume of CCTV footage makes manual monitoring and retrieval of relevant events inefficient and time-consuming. Existing vision-language models can support semantic video retrieval, but their computational efficiency and ability to generalize across different CCTV environments remain important open research questions. This project therefore investigates whether pretrained VL-JEPA representations can provide effective and efficient event retrieval compared with conventional CLIP representations using publicly available CCTV video datasets. Additionally, since LLM-generated surveillance reports may introduce unsupported or hallucinated information, the project evaluates the faithfulness of generated reports against the underlying video evidence. The study aims to contribute an evidence-based comparison of modern visual representations while exploring reliable and resource-efficient approaches for automated CCTV analysis.</a:t>
            </a:r>
          </a:p>
        </p:txBody>
      </p:sp>
    </p:spTree>
    <p:extLst>
      <p:ext uri="{BB962C8B-B14F-4D97-AF65-F5344CB8AC3E}">
        <p14:creationId xmlns:p14="http://schemas.microsoft.com/office/powerpoint/2010/main" val="2699677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03</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Objectives</a:t>
            </a:r>
          </a:p>
        </p:txBody>
      </p:sp>
      <p:sp>
        <p:nvSpPr>
          <p:cNvPr id="200" name="Card"/>
          <p:cNvSpPr/>
          <p:nvPr/>
        </p:nvSpPr>
        <p:spPr>
          <a:xfrm>
            <a:off x="838200" y="1400000"/>
            <a:ext cx="10515600" cy="9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201" name="Num"/>
          <p:cNvSpPr/>
          <p:nvPr/>
        </p:nvSpPr>
        <p:spPr>
          <a:xfrm>
            <a:off x="1138200" y="1590000"/>
            <a:ext cx="520000" cy="520000"/>
          </a:xfrm>
          <a:prstGeom prst="ellipse">
            <a:avLst/>
          </a:prstGeom>
          <a:solidFill>
            <a:srgbClr val="ED7D31"/>
          </a:solidFill>
          <a:ln>
            <a:noFill/>
          </a:ln>
        </p:spPr>
        <p:txBody>
          <a:bodyPr lIns="0" tIns="0" rIns="0" bIns="0" anchor="ctr"/>
          <a:lstStyle/>
          <a:p>
            <a:pPr algn="ctr"/>
            <a:r>
              <a:rPr lang="en-US" sz="1600" b="1" dirty="0">
                <a:solidFill>
                  <a:schemeClr val="bg1"/>
                </a:solidFill>
              </a:rPr>
              <a:t>1</a:t>
            </a:r>
          </a:p>
        </p:txBody>
      </p:sp>
      <p:sp>
        <p:nvSpPr>
          <p:cNvPr id="202" name="Obj1"/>
          <p:cNvSpPr txBox="1"/>
          <p:nvPr/>
        </p:nvSpPr>
        <p:spPr>
          <a:xfrm>
            <a:off x="1908200" y="1400000"/>
            <a:ext cx="9195600" cy="900000"/>
          </a:xfrm>
          <a:prstGeom prst="rect">
            <a:avLst/>
          </a:prstGeom>
          <a:noFill/>
        </p:spPr>
        <p:txBody>
          <a:bodyPr wrap="square" anchor="ctr">
            <a:noAutofit/>
          </a:bodyPr>
          <a:lstStyle/>
          <a:p>
            <a:pPr>
              <a:lnSpc>
                <a:spcPct val="110000"/>
              </a:lnSpc>
            </a:pPr>
            <a:r>
              <a:rPr lang="en-US" sz="1500" b="1" dirty="0">
                <a:solidFill>
                  <a:srgbClr val="1F2B47"/>
                </a:solidFill>
              </a:rPr>
              <a:t>To develop a lightweight semantic CCTV event retrieval framework using pretrained vision-language representations.</a:t>
            </a:r>
          </a:p>
        </p:txBody>
      </p:sp>
      <p:sp>
        <p:nvSpPr>
          <p:cNvPr id="203" name="Card"/>
          <p:cNvSpPr/>
          <p:nvPr/>
        </p:nvSpPr>
        <p:spPr>
          <a:xfrm>
            <a:off x="838200" y="2360000"/>
            <a:ext cx="10515600" cy="9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204" name="Num"/>
          <p:cNvSpPr/>
          <p:nvPr/>
        </p:nvSpPr>
        <p:spPr>
          <a:xfrm>
            <a:off x="1138200" y="2550000"/>
            <a:ext cx="520000" cy="520000"/>
          </a:xfrm>
          <a:prstGeom prst="ellipse">
            <a:avLst/>
          </a:prstGeom>
          <a:solidFill>
            <a:srgbClr val="ED7D31"/>
          </a:solidFill>
          <a:ln>
            <a:noFill/>
          </a:ln>
        </p:spPr>
        <p:txBody>
          <a:bodyPr lIns="0" tIns="0" rIns="0" bIns="0" anchor="ctr"/>
          <a:lstStyle/>
          <a:p>
            <a:pPr algn="ctr"/>
            <a:r>
              <a:rPr lang="en-US" sz="1600" b="1" dirty="0">
                <a:solidFill>
                  <a:schemeClr val="bg1"/>
                </a:solidFill>
              </a:rPr>
              <a:t>2</a:t>
            </a:r>
          </a:p>
        </p:txBody>
      </p:sp>
      <p:sp>
        <p:nvSpPr>
          <p:cNvPr id="205" name="Obj2"/>
          <p:cNvSpPr txBox="1"/>
          <p:nvPr/>
        </p:nvSpPr>
        <p:spPr>
          <a:xfrm>
            <a:off x="1908200" y="2360000"/>
            <a:ext cx="9195600" cy="900000"/>
          </a:xfrm>
          <a:prstGeom prst="rect">
            <a:avLst/>
          </a:prstGeom>
          <a:noFill/>
        </p:spPr>
        <p:txBody>
          <a:bodyPr wrap="square" anchor="ctr">
            <a:noAutofit/>
          </a:bodyPr>
          <a:lstStyle/>
          <a:p>
            <a:pPr>
              <a:lnSpc>
                <a:spcPct val="110000"/>
              </a:lnSpc>
            </a:pPr>
            <a:r>
              <a:rPr lang="en-US" sz="1500" b="1" dirty="0">
                <a:solidFill>
                  <a:srgbClr val="1F2B47"/>
                </a:solidFill>
              </a:rPr>
              <a:t>To compare pretrained VL-JEPA and CLIP representations for CCTV event retrieval using standard retrieval metrics.</a:t>
            </a:r>
          </a:p>
        </p:txBody>
      </p:sp>
      <p:sp>
        <p:nvSpPr>
          <p:cNvPr id="206" name="Card"/>
          <p:cNvSpPr/>
          <p:nvPr/>
        </p:nvSpPr>
        <p:spPr>
          <a:xfrm>
            <a:off x="838200" y="3320000"/>
            <a:ext cx="10515600" cy="9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207" name="Num"/>
          <p:cNvSpPr/>
          <p:nvPr/>
        </p:nvSpPr>
        <p:spPr>
          <a:xfrm>
            <a:off x="1138200" y="3510000"/>
            <a:ext cx="520000" cy="520000"/>
          </a:xfrm>
          <a:prstGeom prst="ellipse">
            <a:avLst/>
          </a:prstGeom>
          <a:solidFill>
            <a:srgbClr val="ED7D31"/>
          </a:solidFill>
          <a:ln>
            <a:noFill/>
          </a:ln>
        </p:spPr>
        <p:txBody>
          <a:bodyPr lIns="0" tIns="0" rIns="0" bIns="0" anchor="ctr"/>
          <a:lstStyle/>
          <a:p>
            <a:pPr algn="ctr"/>
            <a:r>
              <a:rPr lang="en-US" sz="1600" b="1" dirty="0">
                <a:solidFill>
                  <a:schemeClr val="bg1"/>
                </a:solidFill>
              </a:rPr>
              <a:t>3</a:t>
            </a:r>
          </a:p>
        </p:txBody>
      </p:sp>
      <p:sp>
        <p:nvSpPr>
          <p:cNvPr id="208" name="Obj3"/>
          <p:cNvSpPr txBox="1"/>
          <p:nvPr/>
        </p:nvSpPr>
        <p:spPr>
          <a:xfrm>
            <a:off x="1908200" y="3320000"/>
            <a:ext cx="9195600" cy="900000"/>
          </a:xfrm>
          <a:prstGeom prst="rect">
            <a:avLst/>
          </a:prstGeom>
          <a:noFill/>
        </p:spPr>
        <p:txBody>
          <a:bodyPr wrap="square" anchor="ctr">
            <a:noAutofit/>
          </a:bodyPr>
          <a:lstStyle/>
          <a:p>
            <a:pPr>
              <a:lnSpc>
                <a:spcPct val="110000"/>
              </a:lnSpc>
            </a:pPr>
            <a:r>
              <a:rPr lang="en-US" sz="1500" b="1" dirty="0">
                <a:solidFill>
                  <a:srgbClr val="1F2B47"/>
                </a:solidFill>
              </a:rPr>
              <a:t>To evaluate the generalization of both representations across different cameras, viewpoints, or video sources.</a:t>
            </a:r>
          </a:p>
        </p:txBody>
      </p:sp>
      <p:sp>
        <p:nvSpPr>
          <p:cNvPr id="209" name="Card"/>
          <p:cNvSpPr/>
          <p:nvPr/>
        </p:nvSpPr>
        <p:spPr>
          <a:xfrm>
            <a:off x="838200" y="4280000"/>
            <a:ext cx="10515600" cy="9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210" name="Num"/>
          <p:cNvSpPr/>
          <p:nvPr/>
        </p:nvSpPr>
        <p:spPr>
          <a:xfrm>
            <a:off x="1138200" y="4470000"/>
            <a:ext cx="520000" cy="520000"/>
          </a:xfrm>
          <a:prstGeom prst="ellipse">
            <a:avLst/>
          </a:prstGeom>
          <a:solidFill>
            <a:srgbClr val="ED7D31"/>
          </a:solidFill>
          <a:ln>
            <a:noFill/>
          </a:ln>
        </p:spPr>
        <p:txBody>
          <a:bodyPr lIns="0" tIns="0" rIns="0" bIns="0" anchor="ctr"/>
          <a:lstStyle/>
          <a:p>
            <a:pPr algn="ctr"/>
            <a:r>
              <a:rPr lang="en-US" sz="1600" b="1" dirty="0">
                <a:solidFill>
                  <a:schemeClr val="bg1"/>
                </a:solidFill>
              </a:rPr>
              <a:t>4</a:t>
            </a:r>
          </a:p>
        </p:txBody>
      </p:sp>
      <p:sp>
        <p:nvSpPr>
          <p:cNvPr id="211" name="Obj4"/>
          <p:cNvSpPr txBox="1"/>
          <p:nvPr/>
        </p:nvSpPr>
        <p:spPr>
          <a:xfrm>
            <a:off x="1908200" y="4280000"/>
            <a:ext cx="9195600" cy="900000"/>
          </a:xfrm>
          <a:prstGeom prst="rect">
            <a:avLst/>
          </a:prstGeom>
          <a:noFill/>
        </p:spPr>
        <p:txBody>
          <a:bodyPr wrap="square" anchor="ctr">
            <a:noAutofit/>
          </a:bodyPr>
          <a:lstStyle/>
          <a:p>
            <a:pPr>
              <a:lnSpc>
                <a:spcPct val="110000"/>
              </a:lnSpc>
            </a:pPr>
            <a:r>
              <a:rPr lang="en-US" sz="1500" b="1" dirty="0">
                <a:solidFill>
                  <a:srgbClr val="1F2B47"/>
                </a:solidFill>
              </a:rPr>
              <a:t>To analyze the computational requirements of the compared representations under resource-constrained conditions.</a:t>
            </a:r>
          </a:p>
        </p:txBody>
      </p:sp>
      <p:sp>
        <p:nvSpPr>
          <p:cNvPr id="212" name="Card"/>
          <p:cNvSpPr/>
          <p:nvPr/>
        </p:nvSpPr>
        <p:spPr>
          <a:xfrm>
            <a:off x="838200" y="5240000"/>
            <a:ext cx="10515600" cy="9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213" name="Num"/>
          <p:cNvSpPr/>
          <p:nvPr/>
        </p:nvSpPr>
        <p:spPr>
          <a:xfrm>
            <a:off x="1138200" y="5430000"/>
            <a:ext cx="520000" cy="520000"/>
          </a:xfrm>
          <a:prstGeom prst="ellipse">
            <a:avLst/>
          </a:prstGeom>
          <a:solidFill>
            <a:srgbClr val="ED7D31"/>
          </a:solidFill>
          <a:ln>
            <a:noFill/>
          </a:ln>
        </p:spPr>
        <p:txBody>
          <a:bodyPr lIns="0" tIns="0" rIns="0" bIns="0" anchor="ctr"/>
          <a:lstStyle/>
          <a:p>
            <a:pPr algn="ctr"/>
            <a:r>
              <a:rPr lang="en-US" sz="1600" b="1" dirty="0">
                <a:solidFill>
                  <a:schemeClr val="bg1"/>
                </a:solidFill>
              </a:rPr>
              <a:t>5</a:t>
            </a:r>
          </a:p>
        </p:txBody>
      </p:sp>
      <p:sp>
        <p:nvSpPr>
          <p:cNvPr id="214" name="Obj5"/>
          <p:cNvSpPr txBox="1"/>
          <p:nvPr/>
        </p:nvSpPr>
        <p:spPr>
          <a:xfrm>
            <a:off x="1908200" y="5240000"/>
            <a:ext cx="9195600" cy="900000"/>
          </a:xfrm>
          <a:prstGeom prst="rect">
            <a:avLst/>
          </a:prstGeom>
          <a:noFill/>
        </p:spPr>
        <p:txBody>
          <a:bodyPr wrap="square" anchor="ctr">
            <a:noAutofit/>
          </a:bodyPr>
          <a:lstStyle/>
          <a:p>
            <a:pPr>
              <a:lnSpc>
                <a:spcPct val="110000"/>
              </a:lnSpc>
            </a:pPr>
            <a:r>
              <a:rPr lang="en-US" sz="1500" b="1" dirty="0">
                <a:solidFill>
                  <a:srgbClr val="1F2B47"/>
                </a:solidFill>
              </a:rPr>
              <a:t>To evaluate the factual faithfulness and hallucination rate of LLM-generated CCTV incident reports using retrieved visual evidence.</a:t>
            </a:r>
          </a:p>
        </p:txBody>
      </p:sp>
    </p:spTree>
    <p:extLst>
      <p:ext uri="{BB962C8B-B14F-4D97-AF65-F5344CB8AC3E}">
        <p14:creationId xmlns:p14="http://schemas.microsoft.com/office/powerpoint/2010/main" val="1469467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04</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Hypothesis</a:t>
            </a:r>
          </a:p>
        </p:txBody>
      </p:sp>
      <p:sp>
        <p:nvSpPr>
          <p:cNvPr id="300" name="Card"/>
          <p:cNvSpPr/>
          <p:nvPr/>
        </p:nvSpPr>
        <p:spPr>
          <a:xfrm>
            <a:off x="838200" y="1400000"/>
            <a:ext cx="10515600" cy="1550000"/>
          </a:xfrm>
          <a:prstGeom prst="roundRect">
            <a:avLst>
              <a:gd name="adj" fmla="val 4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301" name="Tag"/>
          <p:cNvSpPr/>
          <p:nvPr/>
        </p:nvSpPr>
        <p:spPr>
          <a:xfrm>
            <a:off x="838200" y="1400000"/>
            <a:ext cx="1450000" cy="1550000"/>
          </a:xfrm>
          <a:prstGeom prst="round2SameRect">
            <a:avLst>
              <a:gd name="adj1" fmla="val 4000"/>
              <a:gd name="adj2" fmla="val 0"/>
            </a:avLst>
          </a:prstGeom>
          <a:solidFill>
            <a:srgbClr val="1F2B47"/>
          </a:solidFill>
          <a:ln>
            <a:noFill/>
          </a:ln>
        </p:spPr>
        <p:txBody>
          <a:bodyPr wrap="square" lIns="91440" rIns="91440" anchor="ctr"/>
          <a:lstStyle/>
          <a:p>
            <a:pPr algn="ctr"/>
            <a:r>
              <a:rPr lang="en-US" sz="2400" b="1" dirty="0">
                <a:solidFill>
                  <a:schemeClr val="bg1"/>
                </a:solidFill>
              </a:rPr>
              <a:t>H1</a:t>
            </a:r>
          </a:p>
        </p:txBody>
      </p:sp>
      <p:sp>
        <p:nvSpPr>
          <p:cNvPr id="302" name="Body"/>
          <p:cNvSpPr txBox="1"/>
          <p:nvPr/>
        </p:nvSpPr>
        <p:spPr>
          <a:xfrm>
            <a:off x="2588200" y="1400000"/>
            <a:ext cx="8465600" cy="1550000"/>
          </a:xfrm>
          <a:prstGeom prst="rect">
            <a:avLst/>
          </a:prstGeom>
          <a:noFill/>
        </p:spPr>
        <p:txBody>
          <a:bodyPr wrap="square" anchor="ctr">
            <a:normAutofit/>
          </a:bodyPr>
          <a:lstStyle/>
          <a:p>
            <a:pPr>
              <a:buNone/>
            </a:pPr>
            <a:r>
              <a:rPr lang="en-IN" sz="1500" b="1" dirty="0">
                <a:solidFill>
                  <a:srgbClr val="4472C4"/>
                </a:solidFill>
              </a:rPr>
              <a:t>Main hypothesis</a:t>
            </a:r>
          </a:p>
          <a:p>
            <a:pPr>
              <a:buNone/>
            </a:pPr>
            <a:r>
              <a:rPr lang="en-IN" sz="1500" dirty="0">
                <a:solidFill>
                  <a:srgbClr val="333333"/>
                </a:solidFill>
              </a:rPr>
              <a:t>Pretrained VL-JEPA representations will achieve comparable or better semantic retrieval performance than CLIP representations for CCTV event retrieval.</a:t>
            </a:r>
          </a:p>
        </p:txBody>
      </p:sp>
      <p:sp>
        <p:nvSpPr>
          <p:cNvPr id="303" name="Card"/>
          <p:cNvSpPr/>
          <p:nvPr/>
        </p:nvSpPr>
        <p:spPr>
          <a:xfrm>
            <a:off x="838200" y="3100000"/>
            <a:ext cx="10515600" cy="1550000"/>
          </a:xfrm>
          <a:prstGeom prst="roundRect">
            <a:avLst>
              <a:gd name="adj" fmla="val 4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304" name="Tag"/>
          <p:cNvSpPr/>
          <p:nvPr/>
        </p:nvSpPr>
        <p:spPr>
          <a:xfrm>
            <a:off x="838200" y="3100000"/>
            <a:ext cx="1450000" cy="1550000"/>
          </a:xfrm>
          <a:prstGeom prst="round2SameRect">
            <a:avLst>
              <a:gd name="adj1" fmla="val 4000"/>
              <a:gd name="adj2" fmla="val 0"/>
            </a:avLst>
          </a:prstGeom>
          <a:solidFill>
            <a:srgbClr val="1F2B47"/>
          </a:solidFill>
          <a:ln>
            <a:noFill/>
          </a:ln>
        </p:spPr>
        <p:txBody>
          <a:bodyPr wrap="square" lIns="91440" rIns="91440" anchor="ctr"/>
          <a:lstStyle/>
          <a:p>
            <a:pPr algn="ctr"/>
            <a:r>
              <a:rPr lang="en-US" sz="2400" b="1" dirty="0">
                <a:solidFill>
                  <a:schemeClr val="bg1"/>
                </a:solidFill>
              </a:rPr>
              <a:t>H2</a:t>
            </a:r>
          </a:p>
        </p:txBody>
      </p:sp>
      <p:sp>
        <p:nvSpPr>
          <p:cNvPr id="305" name="Body"/>
          <p:cNvSpPr txBox="1"/>
          <p:nvPr/>
        </p:nvSpPr>
        <p:spPr>
          <a:xfrm>
            <a:off x="2588200" y="3100000"/>
            <a:ext cx="8465600" cy="1550000"/>
          </a:xfrm>
          <a:prstGeom prst="rect">
            <a:avLst/>
          </a:prstGeom>
          <a:noFill/>
        </p:spPr>
        <p:txBody>
          <a:bodyPr wrap="square" anchor="ctr">
            <a:normAutofit/>
          </a:bodyPr>
          <a:lstStyle/>
          <a:p>
            <a:pPr>
              <a:buNone/>
            </a:pPr>
            <a:r>
              <a:rPr lang="en-IN" sz="1500" b="1" dirty="0">
                <a:solidFill>
                  <a:srgbClr val="4472C4"/>
                </a:solidFill>
              </a:rPr>
              <a:t>Generalization</a:t>
            </a:r>
          </a:p>
          <a:p>
            <a:pPr>
              <a:buNone/>
            </a:pPr>
            <a:r>
              <a:rPr lang="en-IN" sz="1500" dirty="0">
                <a:solidFill>
                  <a:srgbClr val="333333"/>
                </a:solidFill>
              </a:rPr>
              <a:t>VL-JEPA representations will maintain better retrieval performance than CLIP when tested on CCTV videos from different cameras or visual environments.</a:t>
            </a:r>
          </a:p>
        </p:txBody>
      </p:sp>
      <p:sp>
        <p:nvSpPr>
          <p:cNvPr id="306" name="Card"/>
          <p:cNvSpPr/>
          <p:nvPr/>
        </p:nvSpPr>
        <p:spPr>
          <a:xfrm>
            <a:off x="838200" y="4800000"/>
            <a:ext cx="10515600" cy="1550000"/>
          </a:xfrm>
          <a:prstGeom prst="roundRect">
            <a:avLst>
              <a:gd name="adj" fmla="val 4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307" name="Tag"/>
          <p:cNvSpPr/>
          <p:nvPr/>
        </p:nvSpPr>
        <p:spPr>
          <a:xfrm>
            <a:off x="838200" y="4800000"/>
            <a:ext cx="1450000" cy="1550000"/>
          </a:xfrm>
          <a:prstGeom prst="round2SameRect">
            <a:avLst>
              <a:gd name="adj1" fmla="val 4000"/>
              <a:gd name="adj2" fmla="val 0"/>
            </a:avLst>
          </a:prstGeom>
          <a:solidFill>
            <a:srgbClr val="1F2B47"/>
          </a:solidFill>
          <a:ln>
            <a:noFill/>
          </a:ln>
        </p:spPr>
        <p:txBody>
          <a:bodyPr wrap="square" lIns="91440" rIns="91440" anchor="ctr"/>
          <a:lstStyle/>
          <a:p>
            <a:pPr algn="ctr"/>
            <a:r>
              <a:rPr lang="en-US" sz="2400" b="1" dirty="0">
                <a:solidFill>
                  <a:schemeClr val="bg1"/>
                </a:solidFill>
              </a:rPr>
              <a:t>H3</a:t>
            </a:r>
          </a:p>
        </p:txBody>
      </p:sp>
      <p:sp>
        <p:nvSpPr>
          <p:cNvPr id="308" name="Body"/>
          <p:cNvSpPr txBox="1"/>
          <p:nvPr/>
        </p:nvSpPr>
        <p:spPr>
          <a:xfrm>
            <a:off x="2588200" y="4800000"/>
            <a:ext cx="8465600" cy="1550000"/>
          </a:xfrm>
          <a:prstGeom prst="rect">
            <a:avLst/>
          </a:prstGeom>
          <a:noFill/>
        </p:spPr>
        <p:txBody>
          <a:bodyPr wrap="square" anchor="ctr">
            <a:normAutofit/>
          </a:bodyPr>
          <a:lstStyle/>
          <a:p>
            <a:pPr>
              <a:buNone/>
            </a:pPr>
            <a:r>
              <a:rPr lang="en-IN" sz="1500" b="1" dirty="0">
                <a:solidFill>
                  <a:srgbClr val="4472C4"/>
                </a:solidFill>
              </a:rPr>
              <a:t>Report faithfulness</a:t>
            </a:r>
          </a:p>
          <a:p>
            <a:pPr>
              <a:buNone/>
            </a:pPr>
            <a:r>
              <a:rPr lang="en-IN" sz="1500" dirty="0">
                <a:solidFill>
                  <a:srgbClr val="333333"/>
                </a:solidFill>
              </a:rPr>
              <a:t>Grounding LLM-generated surveillance reports in structured CCTV evidence will reduce unsupported or hallucinated claims compared with unconstrained report generation.</a:t>
            </a:r>
          </a:p>
        </p:txBody>
      </p:sp>
    </p:spTree>
    <p:extLst>
      <p:ext uri="{BB962C8B-B14F-4D97-AF65-F5344CB8AC3E}">
        <p14:creationId xmlns:p14="http://schemas.microsoft.com/office/powerpoint/2010/main" val="335852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05</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Problem Survey</a:t>
            </a:r>
          </a:p>
        </p:txBody>
      </p:sp>
      <p:sp>
        <p:nvSpPr>
          <p:cNvPr id="95" name="Card"/>
          <p:cNvSpPr/>
          <p:nvPr/>
        </p:nvSpPr>
        <p:spPr>
          <a:xfrm>
            <a:off x="838200" y="1400000"/>
            <a:ext cx="10515600" cy="43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6" name="TextBox 5"/>
          <p:cNvSpPr txBox="1"/>
          <p:nvPr/>
        </p:nvSpPr>
        <p:spPr>
          <a:xfrm>
            <a:off x="1238200" y="1699999"/>
            <a:ext cx="9715600" cy="3854133"/>
          </a:xfrm>
          <a:prstGeom prst="rect">
            <a:avLst/>
          </a:prstGeom>
          <a:noFill/>
        </p:spPr>
        <p:txBody>
          <a:bodyPr wrap="square" anchor="ctr">
            <a:noAutofit/>
          </a:bodyPr>
          <a:lstStyle/>
          <a:p>
            <a:pPr algn="just">
              <a:lnSpc>
                <a:spcPct val="140000"/>
              </a:lnSpc>
            </a:pPr>
            <a:r>
              <a:rPr lang="en-IN" sz="1600" dirty="0">
                <a:solidFill>
                  <a:srgbClr val="333333"/>
                </a:solidFill>
              </a:rPr>
              <a:t>The rapid growth of CCTV video creates a need for automated methods that can efficiently retrieve relevant events from large volumes of surveillance footage. Conventional approaches often depend on predefined event categories or task-specific models, while CLIP-based representations provide flexible natural-language retrieval but were originally developed primarily for image-text alignment rather than dedicated video understanding. Recent vision-language approaches such as VL-JEPA extend joint embedding learning to video and support text-to-video retrieval without requiring autoregressive text generation, reporting strong results compared with CLIP and other representation models on multiple video benchmarks. However, the effectiveness, computational practicality, and cross-camera generalization of such representations for CCTV-style event retrieval remain insufficiently established, particularly under limited computational resources. In addition, converting retrieved surveillance evidence into natural-language reports introduces a separate reliability problem because generated reports may contain unsupported or hallucinated details, motivating evaluation of report faithfulness against the underlying visual evidence.</a:t>
            </a:r>
          </a:p>
        </p:txBody>
      </p:sp>
    </p:spTree>
    <p:extLst>
      <p:ext uri="{BB962C8B-B14F-4D97-AF65-F5344CB8AC3E}">
        <p14:creationId xmlns:p14="http://schemas.microsoft.com/office/powerpoint/2010/main" val="3187098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D98A45B-F51C-B455-3127-0A781E4D6011}"/>
              </a:ext>
            </a:extLst>
          </p:cNvPr>
          <p:cNvGraphicFramePr>
            <a:graphicFrameLocks noGrp="1"/>
          </p:cNvGraphicFramePr>
          <p:nvPr>
            <p:extLst>
              <p:ext uri="{D42A27DB-BD31-4B8C-83A1-F6EECF244321}">
                <p14:modId xmlns:p14="http://schemas.microsoft.com/office/powerpoint/2010/main" val="3043228812"/>
              </p:ext>
            </p:extLst>
          </p:nvPr>
        </p:nvGraphicFramePr>
        <p:xfrm>
          <a:off x="705738" y="755019"/>
          <a:ext cx="11085259" cy="6025598"/>
        </p:xfrm>
        <a:graphic>
          <a:graphicData uri="http://schemas.openxmlformats.org/drawingml/2006/table">
            <a:tbl>
              <a:tblPr>
                <a:tableStyleId>{7DF18680-E054-41AD-8BC1-D1AEF772440D}</a:tableStyleId>
              </a:tblPr>
              <a:tblGrid>
                <a:gridCol w="2022539">
                  <a:extLst>
                    <a:ext uri="{9D8B030D-6E8A-4147-A177-3AD203B41FA5}">
                      <a16:colId xmlns:a16="http://schemas.microsoft.com/office/drawing/2014/main" val="1282212036"/>
                    </a:ext>
                  </a:extLst>
                </a:gridCol>
                <a:gridCol w="2265680">
                  <a:extLst>
                    <a:ext uri="{9D8B030D-6E8A-4147-A177-3AD203B41FA5}">
                      <a16:colId xmlns:a16="http://schemas.microsoft.com/office/drawing/2014/main" val="3778773346"/>
                    </a:ext>
                  </a:extLst>
                </a:gridCol>
                <a:gridCol w="2284307">
                  <a:extLst>
                    <a:ext uri="{9D8B030D-6E8A-4147-A177-3AD203B41FA5}">
                      <a16:colId xmlns:a16="http://schemas.microsoft.com/office/drawing/2014/main" val="67971622"/>
                    </a:ext>
                  </a:extLst>
                </a:gridCol>
                <a:gridCol w="2247053">
                  <a:extLst>
                    <a:ext uri="{9D8B030D-6E8A-4147-A177-3AD203B41FA5}">
                      <a16:colId xmlns:a16="http://schemas.microsoft.com/office/drawing/2014/main" val="3784809285"/>
                    </a:ext>
                  </a:extLst>
                </a:gridCol>
                <a:gridCol w="2265680">
                  <a:extLst>
                    <a:ext uri="{9D8B030D-6E8A-4147-A177-3AD203B41FA5}">
                      <a16:colId xmlns:a16="http://schemas.microsoft.com/office/drawing/2014/main" val="985461179"/>
                    </a:ext>
                  </a:extLst>
                </a:gridCol>
              </a:tblGrid>
              <a:tr h="412263">
                <a:tc>
                  <a:txBody>
                    <a:bodyPr/>
                    <a:lstStyle/>
                    <a:p>
                      <a:pPr>
                        <a:buNone/>
                      </a:pPr>
                      <a:r>
                        <a:rPr lang="en-US" sz="1300" b="1" dirty="0"/>
                        <a:t>Aspect</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b="1" dirty="0"/>
                        <a:t>Conventional CCTV Systems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b="1" dirty="0"/>
                        <a:t>CLIP-based Systems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b="1" dirty="0"/>
                        <a:t>Recent Video-Language Models / VL-JEPA</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b="1" dirty="0"/>
                        <a:t>Your Proposed Direction</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0658275"/>
                  </a:ext>
                </a:extLst>
              </a:tr>
              <a:tr h="412263">
                <a:tc>
                  <a:txBody>
                    <a:bodyPr/>
                    <a:lstStyle/>
                    <a:p>
                      <a:pPr>
                        <a:buNone/>
                      </a:pPr>
                      <a:r>
                        <a:rPr lang="en-US" sz="1300" b="1"/>
                        <a:t>Main approach</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Predefined classes + supervised detection</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Image-text embedding alignment</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Joint video-text representation learning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Video-text retrieval specifically adapted to CCTV</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833772"/>
                  </a:ext>
                </a:extLst>
              </a:tr>
              <a:tr h="412263">
                <a:tc>
                  <a:txBody>
                    <a:bodyPr/>
                    <a:lstStyle/>
                    <a:p>
                      <a:pPr>
                        <a:buNone/>
                      </a:pPr>
                      <a:r>
                        <a:rPr lang="en-US" sz="1300" b="1" dirty="0"/>
                        <a:t>Event categories</a:t>
                      </a:r>
                      <a:endParaRPr lang="en-US" sz="1300" dirty="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Fixed/predefined</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More flexible through text prompts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Open-vocabulary</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Open-vocabulary natural-language queries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46141"/>
                  </a:ext>
                </a:extLst>
              </a:tr>
              <a:tr h="535940">
                <a:tc>
                  <a:txBody>
                    <a:bodyPr/>
                    <a:lstStyle/>
                    <a:p>
                      <a:pPr>
                        <a:buNone/>
                      </a:pPr>
                      <a:r>
                        <a:rPr lang="en-US" sz="1300" b="1"/>
                        <a:t>Video understanding</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Often frame/object/event based</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Primarily image-oriented; video often requires frame aggregation</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Designed for video representations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Dedicated surveillance-video representation</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7212648"/>
                  </a:ext>
                </a:extLst>
              </a:tr>
              <a:tr h="288584">
                <a:tc>
                  <a:txBody>
                    <a:bodyPr/>
                    <a:lstStyle/>
                    <a:p>
                      <a:pPr>
                        <a:buNone/>
                      </a:pPr>
                      <a:r>
                        <a:rPr lang="en-US" sz="1300" b="1"/>
                        <a:t>Query method</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Usually fixed labels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Natural-language text</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Natural-language text</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Natural-language event descriptions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9739110"/>
                  </a:ext>
                </a:extLst>
              </a:tr>
              <a:tr h="412263">
                <a:tc>
                  <a:txBody>
                    <a:bodyPr/>
                    <a:lstStyle/>
                    <a:p>
                      <a:pPr>
                        <a:buNone/>
                      </a:pPr>
                      <a:r>
                        <a:rPr lang="en-US" sz="1300" b="1"/>
                        <a:t>Training requirement</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Often requires labeled surveillance data</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General image-text pretraining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Large-scale video-text learning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Aim for limited task-specific training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40899"/>
                  </a:ext>
                </a:extLst>
              </a:tr>
              <a:tr h="412263">
                <a:tc>
                  <a:txBody>
                    <a:bodyPr/>
                    <a:lstStyle/>
                    <a:p>
                      <a:pPr>
                        <a:buNone/>
                      </a:pPr>
                      <a:r>
                        <a:rPr lang="en-US" sz="1300" b="1"/>
                        <a:t>Computational cost</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Can be relatively efficient for specific tasks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Relatively practical, depending on architecture</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Potentially computationally demanding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Explicitly evaluate efficiency under limited resources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634782"/>
                  </a:ext>
                </a:extLst>
              </a:tr>
              <a:tr h="535940">
                <a:tc>
                  <a:txBody>
                    <a:bodyPr/>
                    <a:lstStyle/>
                    <a:p>
                      <a:pPr>
                        <a:buNone/>
                      </a:pPr>
                      <a:r>
                        <a:rPr lang="en-US" sz="1300" b="1"/>
                        <a:t>Cross-camera generalization</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Often weak when cameras/environments differ</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Better semantic flexibility, but not guaranteed for CCTV</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Promising but not sufficiently established for CCTV</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Explicitly evaluate across different cameras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0106319"/>
                  </a:ext>
                </a:extLst>
              </a:tr>
              <a:tr h="535940">
                <a:tc>
                  <a:txBody>
                    <a:bodyPr/>
                    <a:lstStyle/>
                    <a:p>
                      <a:pPr>
                        <a:buNone/>
                      </a:pPr>
                      <a:r>
                        <a:rPr lang="en-US" sz="1300" b="1"/>
                        <a:t>Retrieval capability</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Usually event/class detection rather than semantic retrieval</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Strong semantic text-image matching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Stronger video-text semantic retrieval</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CCTV-focused text-to-video retrieval</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058247"/>
                  </a:ext>
                </a:extLst>
              </a:tr>
              <a:tr h="659619">
                <a:tc>
                  <a:txBody>
                    <a:bodyPr/>
                    <a:lstStyle/>
                    <a:p>
                      <a:pPr>
                        <a:buNone/>
                      </a:pPr>
                      <a:r>
                        <a:rPr lang="en-US" sz="1300" b="1"/>
                        <a:t>Report generation</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Usually separate or template-based</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Not inherently designed for reporting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Representation models do not necessarily guarantee faithful reports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Generate reports and evaluate their faithfulness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2567584"/>
                  </a:ext>
                </a:extLst>
              </a:tr>
              <a:tr h="535940">
                <a:tc>
                  <a:txBody>
                    <a:bodyPr/>
                    <a:lstStyle/>
                    <a:p>
                      <a:pPr>
                        <a:buNone/>
                      </a:pPr>
                      <a:r>
                        <a:rPr lang="en-US" sz="1300" b="1"/>
                        <a:t>Hallucination risk</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Lower if template-based</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Not applicable unless combined with a generative model</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Still possible when paired with generation</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Explicitly measure unsupported details</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7359170"/>
                  </a:ext>
                </a:extLst>
              </a:tr>
              <a:tr h="659619">
                <a:tc>
                  <a:txBody>
                    <a:bodyPr/>
                    <a:lstStyle/>
                    <a:p>
                      <a:pPr>
                        <a:buNone/>
                      </a:pPr>
                      <a:r>
                        <a:rPr lang="en-US" sz="1300" b="1"/>
                        <a:t>Main limitation</a:t>
                      </a:r>
                      <a:endParaRPr lang="en-US" sz="1300"/>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Rigid and task-specific</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Not optimized specifically for temporal video understanding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a:t>Resource requirements and CCTV generalization remain unclear</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300" dirty="0"/>
                        <a:t>Combine retrieval, efficiency, generalization, and evidence-grounded reporting</a:t>
                      </a:r>
                    </a:p>
                  </a:txBody>
                  <a:tcPr marL="30861" marR="30861" marT="15430" marB="15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911777"/>
                  </a:ext>
                </a:extLst>
              </a:tr>
            </a:tbl>
          </a:graphicData>
        </a:graphic>
      </p:graphicFrame>
      <p:sp>
        <p:nvSpPr>
          <p:cNvPr id="2" name="Badge">
            <a:extLst>
              <a:ext uri="{FF2B5EF4-FFF2-40B4-BE49-F238E27FC236}">
                <a16:creationId xmlns:a16="http://schemas.microsoft.com/office/drawing/2014/main" id="{7BB46F7F-51BB-06F4-5FD9-95DBE88467A1}"/>
              </a:ext>
            </a:extLst>
          </p:cNvPr>
          <p:cNvSpPr/>
          <p:nvPr/>
        </p:nvSpPr>
        <p:spPr>
          <a:xfrm>
            <a:off x="572729" y="132786"/>
            <a:ext cx="560000" cy="560000"/>
          </a:xfrm>
          <a:prstGeom prst="ellipse">
            <a:avLst/>
          </a:prstGeom>
          <a:solidFill>
            <a:srgbClr val="4472C4"/>
          </a:solidFill>
          <a:ln>
            <a:noFill/>
          </a:ln>
        </p:spPr>
        <p:txBody>
          <a:bodyPr lIns="0" tIns="0" rIns="0" bIns="0" anchor="ctr"/>
          <a:lstStyle/>
          <a:p>
            <a:pPr algn="ctr"/>
            <a:r>
              <a:rPr lang="en-US" b="1" dirty="0">
                <a:solidFill>
                  <a:schemeClr val="bg1"/>
                </a:solidFill>
              </a:rPr>
              <a:t>06</a:t>
            </a:r>
            <a:endParaRPr lang="en-US" sz="1200" b="1" dirty="0">
              <a:solidFill>
                <a:schemeClr val="bg1"/>
              </a:solidFill>
            </a:endParaRPr>
          </a:p>
        </p:txBody>
      </p:sp>
      <p:sp>
        <p:nvSpPr>
          <p:cNvPr id="4" name="Title 1">
            <a:extLst>
              <a:ext uri="{FF2B5EF4-FFF2-40B4-BE49-F238E27FC236}">
                <a16:creationId xmlns:a16="http://schemas.microsoft.com/office/drawing/2014/main" id="{75262157-CDB2-457A-F05F-DEE5D0BEB321}"/>
              </a:ext>
            </a:extLst>
          </p:cNvPr>
          <p:cNvSpPr txBox="1">
            <a:spLocks/>
          </p:cNvSpPr>
          <p:nvPr/>
        </p:nvSpPr>
        <p:spPr>
          <a:xfrm>
            <a:off x="1352729" y="62786"/>
            <a:ext cx="9735600" cy="700000"/>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F2B47"/>
                </a:solidFill>
              </a:rPr>
              <a:t>Comparison among existing systems</a:t>
            </a:r>
          </a:p>
        </p:txBody>
      </p:sp>
    </p:spTree>
    <p:extLst>
      <p:ext uri="{BB962C8B-B14F-4D97-AF65-F5344CB8AC3E}">
        <p14:creationId xmlns:p14="http://schemas.microsoft.com/office/powerpoint/2010/main" val="962303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07</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Subject Knowledge</a:t>
            </a:r>
          </a:p>
        </p:txBody>
      </p:sp>
      <p:sp>
        <p:nvSpPr>
          <p:cNvPr id="95" name="Card"/>
          <p:cNvSpPr/>
          <p:nvPr/>
        </p:nvSpPr>
        <p:spPr>
          <a:xfrm>
            <a:off x="838200" y="1400000"/>
            <a:ext cx="5000000" cy="50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5" name="TextBox 4"/>
          <p:cNvSpPr txBox="1"/>
          <p:nvPr/>
        </p:nvSpPr>
        <p:spPr>
          <a:xfrm>
            <a:off x="1188200" y="1700000"/>
            <a:ext cx="4300000" cy="4400000"/>
          </a:xfrm>
          <a:prstGeom prst="rect">
            <a:avLst/>
          </a:prstGeom>
          <a:noFill/>
        </p:spPr>
        <p:txBody>
          <a:bodyPr wrap="square" anchor="ctr">
            <a:noAutofit/>
          </a:bodyPr>
          <a:lstStyle/>
          <a:p>
            <a:pPr marL="228600" indent="-228600">
              <a:buFont typeface="Arial"/>
              <a:buChar char="•"/>
            </a:pPr>
            <a:r>
              <a:rPr lang="en-IN" sz="1400" b="1" dirty="0">
                <a:solidFill>
                  <a:srgbClr val="1F2B47"/>
                </a:solidFill>
              </a:rPr>
              <a:t>Computer Vision &amp; Video Processing</a:t>
            </a:r>
            <a:r>
              <a:rPr lang="en-IN" sz="1400" dirty="0">
                <a:solidFill>
                  <a:srgbClr val="333333"/>
                </a:solidFill>
              </a:rPr>
              <a:t> – Basics of video frames, feature extraction, and CCTV event understanding.</a:t>
            </a:r>
          </a:p>
          <a:p>
            <a:pPr marL="228600" indent="-228600">
              <a:buFont typeface="Arial"/>
              <a:buChar char="•"/>
            </a:pPr>
            <a:r>
              <a:rPr lang="en-IN" sz="1400" b="1" dirty="0">
                <a:solidFill>
                  <a:srgbClr val="1F2B47"/>
                </a:solidFill>
              </a:rPr>
              <a:t>CLIP &amp; Vision-Language Models</a:t>
            </a:r>
            <a:r>
              <a:rPr lang="en-IN" sz="1400" dirty="0">
                <a:solidFill>
                  <a:srgbClr val="333333"/>
                </a:solidFill>
              </a:rPr>
              <a:t> – Understanding image/video-text embeddings and semantic retrieval.</a:t>
            </a:r>
          </a:p>
          <a:p>
            <a:pPr marL="228600" indent="-228600">
              <a:buFont typeface="Arial"/>
              <a:buChar char="•"/>
            </a:pPr>
            <a:r>
              <a:rPr lang="en-IN" sz="1400" b="1" dirty="0">
                <a:solidFill>
                  <a:srgbClr val="1F2B47"/>
                </a:solidFill>
              </a:rPr>
              <a:t>VL-JEPA &amp; Representation Learning</a:t>
            </a:r>
            <a:r>
              <a:rPr lang="en-IN" sz="1400" dirty="0">
                <a:solidFill>
                  <a:srgbClr val="333333"/>
                </a:solidFill>
              </a:rPr>
              <a:t> – Basic understanding of pretrained VL-JEPA and how it represents video and language in an embedding space.</a:t>
            </a:r>
          </a:p>
          <a:p>
            <a:pPr marL="228600" indent="-228600">
              <a:buFont typeface="Arial"/>
              <a:buChar char="•"/>
            </a:pPr>
            <a:r>
              <a:rPr lang="en-IN" sz="1400" b="1" dirty="0">
                <a:solidFill>
                  <a:srgbClr val="1F2B47"/>
                </a:solidFill>
              </a:rPr>
              <a:t>Semantic Video Retrieval</a:t>
            </a:r>
            <a:r>
              <a:rPr lang="en-IN" sz="1400" dirty="0">
                <a:solidFill>
                  <a:srgbClr val="333333"/>
                </a:solidFill>
              </a:rPr>
              <a:t> – Embeddings, cosine similarity, FAISS, and metrics such as </a:t>
            </a:r>
            <a:r>
              <a:rPr lang="en-IN" sz="1400" dirty="0" err="1">
                <a:solidFill>
                  <a:srgbClr val="333333"/>
                </a:solidFill>
              </a:rPr>
              <a:t>Recall@K</a:t>
            </a:r>
            <a:r>
              <a:rPr lang="en-IN" sz="1400" dirty="0">
                <a:solidFill>
                  <a:srgbClr val="333333"/>
                </a:solidFill>
              </a:rPr>
              <a:t>.</a:t>
            </a:r>
          </a:p>
          <a:p>
            <a:pPr marL="228600" indent="-228600">
              <a:buFont typeface="Arial"/>
              <a:buChar char="•"/>
            </a:pPr>
            <a:r>
              <a:rPr lang="en-IN" sz="1400" b="1" dirty="0">
                <a:solidFill>
                  <a:srgbClr val="1F2B47"/>
                </a:solidFill>
              </a:rPr>
              <a:t>LLMs &amp; Hallucination</a:t>
            </a:r>
            <a:r>
              <a:rPr lang="en-IN" sz="1400" dirty="0">
                <a:solidFill>
                  <a:srgbClr val="333333"/>
                </a:solidFill>
              </a:rPr>
              <a:t> – Generating incident reports from retrieved evidence and identifying unsupported claims.</a:t>
            </a:r>
          </a:p>
          <a:p>
            <a:pPr marL="228600" indent="-228600">
              <a:buFont typeface="Arial"/>
              <a:buChar char="•"/>
            </a:pPr>
            <a:r>
              <a:rPr lang="en-IN" sz="1400" b="1" dirty="0">
                <a:solidFill>
                  <a:srgbClr val="1F2B47"/>
                </a:solidFill>
              </a:rPr>
              <a:t>Experimental Evaluation</a:t>
            </a:r>
            <a:r>
              <a:rPr lang="en-IN" sz="1400" dirty="0">
                <a:solidFill>
                  <a:srgbClr val="333333"/>
                </a:solidFill>
              </a:rPr>
              <a:t> – Comparing CLIP and VL-JEPA using retrieval accuracy, generalization, and computational cost.</a:t>
            </a:r>
          </a:p>
        </p:txBody>
      </p:sp>
      <p:pic>
        <p:nvPicPr>
          <p:cNvPr id="7" name="Picture 6">
            <a:extLst>
              <a:ext uri="{FF2B5EF4-FFF2-40B4-BE49-F238E27FC236}">
                <a16:creationId xmlns:a16="http://schemas.microsoft.com/office/drawing/2014/main" id="{604DBB31-B9DE-06E1-E690-854635606C32}"/>
              </a:ext>
            </a:extLst>
          </p:cNvPr>
          <p:cNvPicPr>
            <a:picLocks noChangeAspect="1"/>
          </p:cNvPicPr>
          <p:nvPr/>
        </p:nvPicPr>
        <p:blipFill>
          <a:blip r:embed="rId2"/>
          <a:stretch>
            <a:fillRect/>
          </a:stretch>
        </p:blipFill>
        <p:spPr>
          <a:xfrm>
            <a:off x="6353802" y="1700000"/>
            <a:ext cx="5215600" cy="3934336"/>
          </a:xfrm>
          <a:prstGeom prst="roundRect">
            <a:avLst>
              <a:gd name="adj" fmla="val 2000"/>
            </a:avLst>
          </a:prstGeom>
          <a:ln w="12700">
            <a:solidFill>
              <a:srgbClr val="D9D9D9"/>
            </a:solidFill>
          </a:ln>
        </p:spPr>
      </p:pic>
    </p:spTree>
    <p:extLst>
      <p:ext uri="{BB962C8B-B14F-4D97-AF65-F5344CB8AC3E}">
        <p14:creationId xmlns:p14="http://schemas.microsoft.com/office/powerpoint/2010/main" val="2256919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49998-4FD0-EEC1-948B-D17414F4E1E2}"/>
            </a:ext>
          </a:extLst>
        </p:cNvPr>
        <p:cNvGrpSpPr/>
        <p:nvPr/>
      </p:nvGrpSpPr>
      <p:grpSpPr>
        <a:xfrm>
          <a:off x="0" y="0"/>
          <a:ext cx="0" cy="0"/>
          <a:chOff x="0" y="0"/>
          <a:chExt cx="0" cy="0"/>
        </a:xfrm>
      </p:grpSpPr>
      <p:sp>
        <p:nvSpPr>
          <p:cNvPr id="90" name="Badge">
            <a:extLst>
              <a:ext uri="{FF2B5EF4-FFF2-40B4-BE49-F238E27FC236}">
                <a16:creationId xmlns:a16="http://schemas.microsoft.com/office/drawing/2014/main" id="{17D70409-4C20-6E22-A1C4-BF9562F26AA2}"/>
              </a:ext>
            </a:extLst>
          </p:cNvPr>
          <p:cNvSpPr/>
          <p:nvPr/>
        </p:nvSpPr>
        <p:spPr>
          <a:xfrm>
            <a:off x="838200" y="270926"/>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08</a:t>
            </a:r>
          </a:p>
        </p:txBody>
      </p:sp>
      <p:sp>
        <p:nvSpPr>
          <p:cNvPr id="2" name="Title 1">
            <a:extLst>
              <a:ext uri="{FF2B5EF4-FFF2-40B4-BE49-F238E27FC236}">
                <a16:creationId xmlns:a16="http://schemas.microsoft.com/office/drawing/2014/main" id="{08032300-D658-4BDB-8292-FF95B1D7C705}"/>
              </a:ext>
            </a:extLst>
          </p:cNvPr>
          <p:cNvSpPr>
            <a:spLocks noGrp="1"/>
          </p:cNvSpPr>
          <p:nvPr>
            <p:ph type="title"/>
          </p:nvPr>
        </p:nvSpPr>
        <p:spPr>
          <a:xfrm>
            <a:off x="1618200" y="200926"/>
            <a:ext cx="9735600" cy="700000"/>
          </a:xfrm>
        </p:spPr>
        <p:txBody>
          <a:bodyPr anchor="ctr">
            <a:noAutofit/>
          </a:bodyPr>
          <a:lstStyle/>
          <a:p>
            <a:r>
              <a:rPr lang="en-US" sz="3400" b="1" dirty="0">
                <a:solidFill>
                  <a:srgbClr val="1F2B47"/>
                </a:solidFill>
              </a:rPr>
              <a:t>Technical Requirements</a:t>
            </a:r>
          </a:p>
        </p:txBody>
      </p:sp>
      <p:sp>
        <p:nvSpPr>
          <p:cNvPr id="95" name="Card">
            <a:extLst>
              <a:ext uri="{FF2B5EF4-FFF2-40B4-BE49-F238E27FC236}">
                <a16:creationId xmlns:a16="http://schemas.microsoft.com/office/drawing/2014/main" id="{A4E0C079-1FC7-FE92-4216-35DD06DF3AB0}"/>
              </a:ext>
            </a:extLst>
          </p:cNvPr>
          <p:cNvSpPr/>
          <p:nvPr/>
        </p:nvSpPr>
        <p:spPr>
          <a:xfrm>
            <a:off x="838199" y="937142"/>
            <a:ext cx="10645877" cy="5462858"/>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graphicFrame>
        <p:nvGraphicFramePr>
          <p:cNvPr id="3" name="Table 2">
            <a:extLst>
              <a:ext uri="{FF2B5EF4-FFF2-40B4-BE49-F238E27FC236}">
                <a16:creationId xmlns:a16="http://schemas.microsoft.com/office/drawing/2014/main" id="{84006E30-3A41-68F0-F4BF-52C210F52BF7}"/>
              </a:ext>
            </a:extLst>
          </p:cNvPr>
          <p:cNvGraphicFramePr>
            <a:graphicFrameLocks noGrp="1"/>
          </p:cNvGraphicFramePr>
          <p:nvPr>
            <p:extLst>
              <p:ext uri="{D42A27DB-BD31-4B8C-83A1-F6EECF244321}">
                <p14:modId xmlns:p14="http://schemas.microsoft.com/office/powerpoint/2010/main" val="796519302"/>
              </p:ext>
            </p:extLst>
          </p:nvPr>
        </p:nvGraphicFramePr>
        <p:xfrm>
          <a:off x="1118200" y="1243858"/>
          <a:ext cx="9186841" cy="5061344"/>
        </p:xfrm>
        <a:graphic>
          <a:graphicData uri="http://schemas.openxmlformats.org/drawingml/2006/table">
            <a:tbl>
              <a:tblPr>
                <a:tableStyleId>{3C2FFA5D-87B4-456A-9821-1D502468CF0F}</a:tableStyleId>
              </a:tblPr>
              <a:tblGrid>
                <a:gridCol w="1589994">
                  <a:extLst>
                    <a:ext uri="{9D8B030D-6E8A-4147-A177-3AD203B41FA5}">
                      <a16:colId xmlns:a16="http://schemas.microsoft.com/office/drawing/2014/main" val="2782574492"/>
                    </a:ext>
                  </a:extLst>
                </a:gridCol>
                <a:gridCol w="7596847">
                  <a:extLst>
                    <a:ext uri="{9D8B030D-6E8A-4147-A177-3AD203B41FA5}">
                      <a16:colId xmlns:a16="http://schemas.microsoft.com/office/drawing/2014/main" val="474604445"/>
                    </a:ext>
                  </a:extLst>
                </a:gridCol>
              </a:tblGrid>
              <a:tr h="209101">
                <a:tc>
                  <a:txBody>
                    <a:bodyPr/>
                    <a:lstStyle/>
                    <a:p>
                      <a:pPr>
                        <a:buNone/>
                      </a:pPr>
                      <a:r>
                        <a:rPr lang="en-IN" sz="1600" dirty="0"/>
                        <a:t>Component</a:t>
                      </a:r>
                    </a:p>
                  </a:txBody>
                  <a:tcPr marL="57254" marR="57254" marT="28627" marB="28627" anchor="ctr"/>
                </a:tc>
                <a:tc>
                  <a:txBody>
                    <a:bodyPr/>
                    <a:lstStyle/>
                    <a:p>
                      <a:pPr>
                        <a:buNone/>
                      </a:pPr>
                      <a:r>
                        <a:rPr lang="en-IN" sz="1600" dirty="0"/>
                        <a:t>Requirement</a:t>
                      </a:r>
                    </a:p>
                  </a:txBody>
                  <a:tcPr marL="57254" marR="57254" marT="28627" marB="28627" anchor="ctr"/>
                </a:tc>
                <a:extLst>
                  <a:ext uri="{0D108BD9-81ED-4DB2-BD59-A6C34878D82A}">
                    <a16:rowId xmlns:a16="http://schemas.microsoft.com/office/drawing/2014/main" val="1515604341"/>
                  </a:ext>
                </a:extLst>
              </a:tr>
              <a:tr h="209101">
                <a:tc>
                  <a:txBody>
                    <a:bodyPr/>
                    <a:lstStyle/>
                    <a:p>
                      <a:pPr>
                        <a:buNone/>
                      </a:pPr>
                      <a:r>
                        <a:rPr lang="en-IN" sz="1600" b="1"/>
                        <a:t>CPU</a:t>
                      </a:r>
                      <a:endParaRPr lang="en-IN" sz="1600"/>
                    </a:p>
                  </a:txBody>
                  <a:tcPr marL="57254" marR="57254" marT="28627" marB="28627" anchor="ctr"/>
                </a:tc>
                <a:tc>
                  <a:txBody>
                    <a:bodyPr/>
                    <a:lstStyle/>
                    <a:p>
                      <a:pPr>
                        <a:buNone/>
                      </a:pPr>
                      <a:r>
                        <a:rPr lang="en-IN" sz="1600"/>
                        <a:t>Intel Core i5 / AMD Ryzen 5 or better</a:t>
                      </a:r>
                    </a:p>
                  </a:txBody>
                  <a:tcPr marL="57254" marR="57254" marT="28627" marB="28627" anchor="ctr"/>
                </a:tc>
                <a:extLst>
                  <a:ext uri="{0D108BD9-81ED-4DB2-BD59-A6C34878D82A}">
                    <a16:rowId xmlns:a16="http://schemas.microsoft.com/office/drawing/2014/main" val="3298052209"/>
                  </a:ext>
                </a:extLst>
              </a:tr>
              <a:tr h="378441">
                <a:tc>
                  <a:txBody>
                    <a:bodyPr/>
                    <a:lstStyle/>
                    <a:p>
                      <a:pPr>
                        <a:buNone/>
                      </a:pPr>
                      <a:r>
                        <a:rPr lang="en-IN" sz="1600" b="1" dirty="0"/>
                        <a:t>GPU</a:t>
                      </a:r>
                      <a:endParaRPr lang="en-IN" sz="1600" dirty="0"/>
                    </a:p>
                  </a:txBody>
                  <a:tcPr marL="57254" marR="57254" marT="28627" marB="28627" anchor="ctr"/>
                </a:tc>
                <a:tc>
                  <a:txBody>
                    <a:bodyPr/>
                    <a:lstStyle/>
                    <a:p>
                      <a:pPr>
                        <a:buNone/>
                      </a:pPr>
                      <a:r>
                        <a:rPr lang="en-IN" sz="1600"/>
                        <a:t>NVIDIA GPU with </a:t>
                      </a:r>
                      <a:r>
                        <a:rPr lang="en-IN" sz="1600" b="1"/>
                        <a:t>8 GB+ VRAM recommended</a:t>
                      </a:r>
                      <a:r>
                        <a:rPr lang="en-IN" sz="1600"/>
                        <a:t>; free cloud GPU (T4/P100) can be used for model inference</a:t>
                      </a:r>
                    </a:p>
                  </a:txBody>
                  <a:tcPr marL="57254" marR="57254" marT="28627" marB="28627" anchor="ctr"/>
                </a:tc>
                <a:extLst>
                  <a:ext uri="{0D108BD9-81ED-4DB2-BD59-A6C34878D82A}">
                    <a16:rowId xmlns:a16="http://schemas.microsoft.com/office/drawing/2014/main" val="1132410068"/>
                  </a:ext>
                </a:extLst>
              </a:tr>
              <a:tr h="209101">
                <a:tc>
                  <a:txBody>
                    <a:bodyPr/>
                    <a:lstStyle/>
                    <a:p>
                      <a:pPr>
                        <a:buNone/>
                      </a:pPr>
                      <a:r>
                        <a:rPr lang="en-IN" sz="1600" b="1"/>
                        <a:t>RAM</a:t>
                      </a:r>
                      <a:endParaRPr lang="en-IN" sz="1600"/>
                    </a:p>
                  </a:txBody>
                  <a:tcPr marL="57254" marR="57254" marT="28627" marB="28627" anchor="ctr"/>
                </a:tc>
                <a:tc>
                  <a:txBody>
                    <a:bodyPr/>
                    <a:lstStyle/>
                    <a:p>
                      <a:pPr>
                        <a:buNone/>
                      </a:pPr>
                      <a:r>
                        <a:rPr lang="en-IN" sz="1600" b="1"/>
                        <a:t>16 GB recommended</a:t>
                      </a:r>
                      <a:r>
                        <a:rPr lang="en-IN" sz="1600"/>
                        <a:t>, 8 GB minimum</a:t>
                      </a:r>
                    </a:p>
                  </a:txBody>
                  <a:tcPr marL="57254" marR="57254" marT="28627" marB="28627" anchor="ctr"/>
                </a:tc>
                <a:extLst>
                  <a:ext uri="{0D108BD9-81ED-4DB2-BD59-A6C34878D82A}">
                    <a16:rowId xmlns:a16="http://schemas.microsoft.com/office/drawing/2014/main" val="2411269439"/>
                  </a:ext>
                </a:extLst>
              </a:tr>
              <a:tr h="209101">
                <a:tc>
                  <a:txBody>
                    <a:bodyPr/>
                    <a:lstStyle/>
                    <a:p>
                      <a:pPr>
                        <a:buNone/>
                      </a:pPr>
                      <a:r>
                        <a:rPr lang="en-IN" sz="1600" b="1"/>
                        <a:t>Storage</a:t>
                      </a:r>
                      <a:endParaRPr lang="en-IN" sz="1600"/>
                    </a:p>
                  </a:txBody>
                  <a:tcPr marL="57254" marR="57254" marT="28627" marB="28627" anchor="ctr"/>
                </a:tc>
                <a:tc>
                  <a:txBody>
                    <a:bodyPr/>
                    <a:lstStyle/>
                    <a:p>
                      <a:pPr>
                        <a:buNone/>
                      </a:pPr>
                      <a:r>
                        <a:rPr lang="en-IN" sz="1600" b="1"/>
                        <a:t>50–100 GB free space</a:t>
                      </a:r>
                      <a:r>
                        <a:rPr lang="en-IN" sz="1600"/>
                        <a:t>, depending on selected datasets and cached embeddings</a:t>
                      </a:r>
                    </a:p>
                  </a:txBody>
                  <a:tcPr marL="57254" marR="57254" marT="28627" marB="28627" anchor="ctr"/>
                </a:tc>
                <a:extLst>
                  <a:ext uri="{0D108BD9-81ED-4DB2-BD59-A6C34878D82A}">
                    <a16:rowId xmlns:a16="http://schemas.microsoft.com/office/drawing/2014/main" val="734116848"/>
                  </a:ext>
                </a:extLst>
              </a:tr>
              <a:tr h="209101">
                <a:tc>
                  <a:txBody>
                    <a:bodyPr/>
                    <a:lstStyle/>
                    <a:p>
                      <a:pPr>
                        <a:buNone/>
                      </a:pPr>
                      <a:r>
                        <a:rPr lang="en-IN" sz="1600" b="1"/>
                        <a:t>OS</a:t>
                      </a:r>
                      <a:endParaRPr lang="en-IN" sz="1600"/>
                    </a:p>
                  </a:txBody>
                  <a:tcPr marL="57254" marR="57254" marT="28627" marB="28627" anchor="ctr"/>
                </a:tc>
                <a:tc>
                  <a:txBody>
                    <a:bodyPr/>
                    <a:lstStyle/>
                    <a:p>
                      <a:pPr>
                        <a:buNone/>
                      </a:pPr>
                      <a:r>
                        <a:rPr lang="en-IN" sz="1600" dirty="0"/>
                        <a:t>Windows 10/11, Ubuntu Linux, or macOS</a:t>
                      </a:r>
                    </a:p>
                  </a:txBody>
                  <a:tcPr marL="57254" marR="57254" marT="28627" marB="28627" anchor="ctr"/>
                </a:tc>
                <a:extLst>
                  <a:ext uri="{0D108BD9-81ED-4DB2-BD59-A6C34878D82A}">
                    <a16:rowId xmlns:a16="http://schemas.microsoft.com/office/drawing/2014/main" val="3806599559"/>
                  </a:ext>
                </a:extLst>
              </a:tr>
              <a:tr h="209101">
                <a:tc>
                  <a:txBody>
                    <a:bodyPr/>
                    <a:lstStyle/>
                    <a:p>
                      <a:pPr>
                        <a:buNone/>
                      </a:pPr>
                      <a:r>
                        <a:rPr lang="en-IN" sz="1600" b="1"/>
                        <a:t>Programming</a:t>
                      </a:r>
                      <a:endParaRPr lang="en-IN" sz="1600"/>
                    </a:p>
                  </a:txBody>
                  <a:tcPr marL="57254" marR="57254" marT="28627" marB="28627" anchor="ctr"/>
                </a:tc>
                <a:tc>
                  <a:txBody>
                    <a:bodyPr/>
                    <a:lstStyle/>
                    <a:p>
                      <a:pPr>
                        <a:buNone/>
                      </a:pPr>
                      <a:r>
                        <a:rPr lang="en-IN" sz="1600"/>
                        <a:t>Python 3.10+</a:t>
                      </a:r>
                    </a:p>
                  </a:txBody>
                  <a:tcPr marL="57254" marR="57254" marT="28627" marB="28627" anchor="ctr"/>
                </a:tc>
                <a:extLst>
                  <a:ext uri="{0D108BD9-81ED-4DB2-BD59-A6C34878D82A}">
                    <a16:rowId xmlns:a16="http://schemas.microsoft.com/office/drawing/2014/main" val="2327374947"/>
                  </a:ext>
                </a:extLst>
              </a:tr>
              <a:tr h="209101">
                <a:tc>
                  <a:txBody>
                    <a:bodyPr/>
                    <a:lstStyle/>
                    <a:p>
                      <a:pPr>
                        <a:buNone/>
                      </a:pPr>
                      <a:r>
                        <a:rPr lang="en-IN" sz="1600" b="1"/>
                        <a:t>Deep Learning</a:t>
                      </a:r>
                      <a:endParaRPr lang="en-IN" sz="1600"/>
                    </a:p>
                  </a:txBody>
                  <a:tcPr marL="57254" marR="57254" marT="28627" marB="28627" anchor="ctr"/>
                </a:tc>
                <a:tc>
                  <a:txBody>
                    <a:bodyPr/>
                    <a:lstStyle/>
                    <a:p>
                      <a:pPr>
                        <a:buNone/>
                      </a:pPr>
                      <a:r>
                        <a:rPr lang="en-IN" sz="1600"/>
                        <a:t>PyTorch, CUDA (when NVIDIA GPU is available)</a:t>
                      </a:r>
                    </a:p>
                  </a:txBody>
                  <a:tcPr marL="57254" marR="57254" marT="28627" marB="28627" anchor="ctr"/>
                </a:tc>
                <a:extLst>
                  <a:ext uri="{0D108BD9-81ED-4DB2-BD59-A6C34878D82A}">
                    <a16:rowId xmlns:a16="http://schemas.microsoft.com/office/drawing/2014/main" val="186221515"/>
                  </a:ext>
                </a:extLst>
              </a:tr>
              <a:tr h="209101">
                <a:tc>
                  <a:txBody>
                    <a:bodyPr/>
                    <a:lstStyle/>
                    <a:p>
                      <a:pPr>
                        <a:buNone/>
                      </a:pPr>
                      <a:r>
                        <a:rPr lang="en-IN" sz="1600" b="1"/>
                        <a:t>Vision Models</a:t>
                      </a:r>
                      <a:endParaRPr lang="en-IN" sz="1600"/>
                    </a:p>
                  </a:txBody>
                  <a:tcPr marL="57254" marR="57254" marT="28627" marB="28627" anchor="ctr"/>
                </a:tc>
                <a:tc>
                  <a:txBody>
                    <a:bodyPr/>
                    <a:lstStyle/>
                    <a:p>
                      <a:pPr>
                        <a:buNone/>
                      </a:pPr>
                      <a:r>
                        <a:rPr lang="en-IN" sz="1600"/>
                        <a:t>Pretrained </a:t>
                      </a:r>
                      <a:r>
                        <a:rPr lang="en-IN" sz="1600" b="1"/>
                        <a:t>CLIP</a:t>
                      </a:r>
                      <a:r>
                        <a:rPr lang="en-IN" sz="1600"/>
                        <a:t> and </a:t>
                      </a:r>
                      <a:r>
                        <a:rPr lang="en-IN" sz="1600" b="1"/>
                        <a:t>VL-JEPA</a:t>
                      </a:r>
                      <a:endParaRPr lang="en-IN" sz="1600"/>
                    </a:p>
                  </a:txBody>
                  <a:tcPr marL="57254" marR="57254" marT="28627" marB="28627" anchor="ctr"/>
                </a:tc>
                <a:extLst>
                  <a:ext uri="{0D108BD9-81ED-4DB2-BD59-A6C34878D82A}">
                    <a16:rowId xmlns:a16="http://schemas.microsoft.com/office/drawing/2014/main" val="1228801574"/>
                  </a:ext>
                </a:extLst>
              </a:tr>
              <a:tr h="209101">
                <a:tc>
                  <a:txBody>
                    <a:bodyPr/>
                    <a:lstStyle/>
                    <a:p>
                      <a:pPr>
                        <a:buNone/>
                      </a:pPr>
                      <a:r>
                        <a:rPr lang="en-IN" sz="1600" b="1"/>
                        <a:t>Video Processing</a:t>
                      </a:r>
                      <a:endParaRPr lang="en-IN" sz="1600"/>
                    </a:p>
                  </a:txBody>
                  <a:tcPr marL="57254" marR="57254" marT="28627" marB="28627" anchor="ctr"/>
                </a:tc>
                <a:tc>
                  <a:txBody>
                    <a:bodyPr/>
                    <a:lstStyle/>
                    <a:p>
                      <a:pPr>
                        <a:buNone/>
                      </a:pPr>
                      <a:r>
                        <a:rPr lang="en-IN" sz="1600"/>
                        <a:t>OpenCV, FFmpeg</a:t>
                      </a:r>
                    </a:p>
                  </a:txBody>
                  <a:tcPr marL="57254" marR="57254" marT="28627" marB="28627" anchor="ctr"/>
                </a:tc>
                <a:extLst>
                  <a:ext uri="{0D108BD9-81ED-4DB2-BD59-A6C34878D82A}">
                    <a16:rowId xmlns:a16="http://schemas.microsoft.com/office/drawing/2014/main" val="2548577051"/>
                  </a:ext>
                </a:extLst>
              </a:tr>
              <a:tr h="209101">
                <a:tc>
                  <a:txBody>
                    <a:bodyPr/>
                    <a:lstStyle/>
                    <a:p>
                      <a:pPr>
                        <a:buNone/>
                      </a:pPr>
                      <a:r>
                        <a:rPr lang="en-IN" sz="1600" b="1"/>
                        <a:t>Retrieval</a:t>
                      </a:r>
                      <a:endParaRPr lang="en-IN" sz="1600"/>
                    </a:p>
                  </a:txBody>
                  <a:tcPr marL="57254" marR="57254" marT="28627" marB="28627" anchor="ctr"/>
                </a:tc>
                <a:tc>
                  <a:txBody>
                    <a:bodyPr/>
                    <a:lstStyle/>
                    <a:p>
                      <a:pPr>
                        <a:buNone/>
                      </a:pPr>
                      <a:r>
                        <a:rPr lang="en-IN" sz="1600" dirty="0"/>
                        <a:t>FAISS, NumPy, SciPy</a:t>
                      </a:r>
                    </a:p>
                  </a:txBody>
                  <a:tcPr marL="57254" marR="57254" marT="28627" marB="28627" anchor="ctr"/>
                </a:tc>
                <a:extLst>
                  <a:ext uri="{0D108BD9-81ED-4DB2-BD59-A6C34878D82A}">
                    <a16:rowId xmlns:a16="http://schemas.microsoft.com/office/drawing/2014/main" val="4113143232"/>
                  </a:ext>
                </a:extLst>
              </a:tr>
              <a:tr h="209101">
                <a:tc>
                  <a:txBody>
                    <a:bodyPr/>
                    <a:lstStyle/>
                    <a:p>
                      <a:pPr>
                        <a:buNone/>
                      </a:pPr>
                      <a:r>
                        <a:rPr lang="en-IN" sz="1600" b="1"/>
                        <a:t>LLM / Reporting</a:t>
                      </a:r>
                      <a:endParaRPr lang="en-IN" sz="1600"/>
                    </a:p>
                  </a:txBody>
                  <a:tcPr marL="57254" marR="57254" marT="28627" marB="28627" anchor="ctr"/>
                </a:tc>
                <a:tc>
                  <a:txBody>
                    <a:bodyPr/>
                    <a:lstStyle/>
                    <a:p>
                      <a:pPr>
                        <a:buNone/>
                      </a:pPr>
                      <a:r>
                        <a:rPr lang="en-IN" sz="1600"/>
                        <a:t>Hugging Face Transformers + lightweight pretrained LLM</a:t>
                      </a:r>
                    </a:p>
                  </a:txBody>
                  <a:tcPr marL="57254" marR="57254" marT="28627" marB="28627" anchor="ctr"/>
                </a:tc>
                <a:extLst>
                  <a:ext uri="{0D108BD9-81ED-4DB2-BD59-A6C34878D82A}">
                    <a16:rowId xmlns:a16="http://schemas.microsoft.com/office/drawing/2014/main" val="1686508063"/>
                  </a:ext>
                </a:extLst>
              </a:tr>
              <a:tr h="209101">
                <a:tc>
                  <a:txBody>
                    <a:bodyPr/>
                    <a:lstStyle/>
                    <a:p>
                      <a:pPr>
                        <a:buNone/>
                      </a:pPr>
                      <a:r>
                        <a:rPr lang="en-IN" sz="1600" b="1"/>
                        <a:t>Evaluation</a:t>
                      </a:r>
                      <a:endParaRPr lang="en-IN" sz="1600"/>
                    </a:p>
                  </a:txBody>
                  <a:tcPr marL="57254" marR="57254" marT="28627" marB="28627" anchor="ctr"/>
                </a:tc>
                <a:tc>
                  <a:txBody>
                    <a:bodyPr/>
                    <a:lstStyle/>
                    <a:p>
                      <a:pPr>
                        <a:buNone/>
                      </a:pPr>
                      <a:r>
                        <a:rPr lang="en-IN" sz="1600"/>
                        <a:t>Recall@K, MRR, retrieval latency, memory usage, hallucination/faithfulness metrics</a:t>
                      </a:r>
                    </a:p>
                  </a:txBody>
                  <a:tcPr marL="57254" marR="57254" marT="28627" marB="28627" anchor="ctr"/>
                </a:tc>
                <a:extLst>
                  <a:ext uri="{0D108BD9-81ED-4DB2-BD59-A6C34878D82A}">
                    <a16:rowId xmlns:a16="http://schemas.microsoft.com/office/drawing/2014/main" val="312123164"/>
                  </a:ext>
                </a:extLst>
              </a:tr>
              <a:tr h="209101">
                <a:tc>
                  <a:txBody>
                    <a:bodyPr/>
                    <a:lstStyle/>
                    <a:p>
                      <a:pPr>
                        <a:buNone/>
                      </a:pPr>
                      <a:r>
                        <a:rPr lang="en-IN" sz="1600" b="1"/>
                        <a:t>Development</a:t>
                      </a:r>
                      <a:endParaRPr lang="en-IN" sz="1600"/>
                    </a:p>
                  </a:txBody>
                  <a:tcPr marL="57254" marR="57254" marT="28627" marB="28627" anchor="ctr"/>
                </a:tc>
                <a:tc>
                  <a:txBody>
                    <a:bodyPr/>
                    <a:lstStyle/>
                    <a:p>
                      <a:pPr>
                        <a:buNone/>
                      </a:pPr>
                      <a:r>
                        <a:rPr lang="en-IN" sz="1600"/>
                        <a:t>Jupyter/Google Colab, VS Code, Git/GitHub</a:t>
                      </a:r>
                    </a:p>
                  </a:txBody>
                  <a:tcPr marL="57254" marR="57254" marT="28627" marB="28627" anchor="ctr"/>
                </a:tc>
                <a:extLst>
                  <a:ext uri="{0D108BD9-81ED-4DB2-BD59-A6C34878D82A}">
                    <a16:rowId xmlns:a16="http://schemas.microsoft.com/office/drawing/2014/main" val="2647920344"/>
                  </a:ext>
                </a:extLst>
              </a:tr>
              <a:tr h="209101">
                <a:tc>
                  <a:txBody>
                    <a:bodyPr/>
                    <a:lstStyle/>
                    <a:p>
                      <a:pPr>
                        <a:buNone/>
                      </a:pPr>
                      <a:r>
                        <a:rPr lang="en-IN" sz="1600" b="1"/>
                        <a:t>Demo</a:t>
                      </a:r>
                      <a:endParaRPr lang="en-IN" sz="1600"/>
                    </a:p>
                  </a:txBody>
                  <a:tcPr marL="57254" marR="57254" marT="28627" marB="28627" anchor="ctr"/>
                </a:tc>
                <a:tc>
                  <a:txBody>
                    <a:bodyPr/>
                    <a:lstStyle/>
                    <a:p>
                      <a:pPr>
                        <a:buNone/>
                      </a:pPr>
                      <a:r>
                        <a:rPr lang="en-IN" sz="1600"/>
                        <a:t>Streamlit</a:t>
                      </a:r>
                    </a:p>
                  </a:txBody>
                  <a:tcPr marL="57254" marR="57254" marT="28627" marB="28627" anchor="ctr"/>
                </a:tc>
                <a:extLst>
                  <a:ext uri="{0D108BD9-81ED-4DB2-BD59-A6C34878D82A}">
                    <a16:rowId xmlns:a16="http://schemas.microsoft.com/office/drawing/2014/main" val="1519765923"/>
                  </a:ext>
                </a:extLst>
              </a:tr>
              <a:tr h="209101">
                <a:tc>
                  <a:txBody>
                    <a:bodyPr/>
                    <a:lstStyle/>
                    <a:p>
                      <a:pPr>
                        <a:buNone/>
                      </a:pPr>
                      <a:r>
                        <a:rPr lang="en-IN" sz="1600" b="1"/>
                        <a:t>Data</a:t>
                      </a:r>
                      <a:endParaRPr lang="en-IN" sz="1600"/>
                    </a:p>
                  </a:txBody>
                  <a:tcPr marL="57254" marR="57254" marT="28627" marB="28627" anchor="ctr"/>
                </a:tc>
                <a:tc>
                  <a:txBody>
                    <a:bodyPr/>
                    <a:lstStyle/>
                    <a:p>
                      <a:pPr>
                        <a:buNone/>
                      </a:pPr>
                      <a:r>
                        <a:rPr lang="en-IN" sz="1600" dirty="0"/>
                        <a:t>Public CCTV/video datasets + text-based event queries</a:t>
                      </a:r>
                    </a:p>
                  </a:txBody>
                  <a:tcPr marL="57254" marR="57254" marT="28627" marB="28627" anchor="ctr"/>
                </a:tc>
                <a:extLst>
                  <a:ext uri="{0D108BD9-81ED-4DB2-BD59-A6C34878D82A}">
                    <a16:rowId xmlns:a16="http://schemas.microsoft.com/office/drawing/2014/main" val="2778551050"/>
                  </a:ext>
                </a:extLst>
              </a:tr>
            </a:tbl>
          </a:graphicData>
        </a:graphic>
      </p:graphicFrame>
    </p:spTree>
    <p:extLst>
      <p:ext uri="{BB962C8B-B14F-4D97-AF65-F5344CB8AC3E}">
        <p14:creationId xmlns:p14="http://schemas.microsoft.com/office/powerpoint/2010/main" val="2932833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09</a:t>
            </a:r>
          </a:p>
        </p:txBody>
      </p:sp>
      <p:sp>
        <p:nvSpPr>
          <p:cNvPr id="2" name="Title 1">
            <a:extLst>
              <a:ext uri="{FF2B5EF4-FFF2-40B4-BE49-F238E27FC236}">
                <a16:creationId xmlns:a16="http://schemas.microsoft.com/office/drawing/2014/main" id="{0F18EBF9-6D49-F248-6444-0A6B9A2315B4}"/>
              </a:ext>
            </a:extLst>
          </p:cNvPr>
          <p:cNvSpPr>
            <a:spLocks noGrp="1"/>
          </p:cNvSpPr>
          <p:nvPr>
            <p:ph type="title"/>
          </p:nvPr>
        </p:nvSpPr>
        <p:spPr>
          <a:xfrm>
            <a:off x="1618200" y="456565"/>
            <a:ext cx="4000000" cy="700000"/>
          </a:xfrm>
        </p:spPr>
        <p:txBody>
          <a:bodyPr anchor="ctr">
            <a:noAutofit/>
          </a:bodyPr>
          <a:lstStyle/>
          <a:p>
            <a:r>
              <a:rPr lang="en-US" sz="3400" b="1" dirty="0">
                <a:solidFill>
                  <a:srgbClr val="1F2B47"/>
                </a:solidFill>
              </a:rPr>
              <a:t>Timeline</a:t>
            </a:r>
            <a:endParaRPr lang="en-IN" sz="3400" b="1" dirty="0">
              <a:solidFill>
                <a:srgbClr val="1F2B47"/>
              </a:solidFill>
            </a:endParaRPr>
          </a:p>
        </p:txBody>
      </p:sp>
      <p:graphicFrame>
        <p:nvGraphicFramePr>
          <p:cNvPr id="4" name="Table 3">
            <a:extLst>
              <a:ext uri="{FF2B5EF4-FFF2-40B4-BE49-F238E27FC236}">
                <a16:creationId xmlns:a16="http://schemas.microsoft.com/office/drawing/2014/main" id="{80FE6E64-9ED3-D69D-4DC2-73684097AE6A}"/>
              </a:ext>
            </a:extLst>
          </p:cNvPr>
          <p:cNvGraphicFramePr>
            <a:graphicFrameLocks noGrp="1"/>
          </p:cNvGraphicFramePr>
          <p:nvPr>
            <p:extLst>
              <p:ext uri="{D42A27DB-BD31-4B8C-83A1-F6EECF244321}">
                <p14:modId xmlns:p14="http://schemas.microsoft.com/office/powerpoint/2010/main" val="4032943593"/>
              </p:ext>
            </p:extLst>
          </p:nvPr>
        </p:nvGraphicFramePr>
        <p:xfrm>
          <a:off x="838200" y="1450000"/>
          <a:ext cx="10515600" cy="4748120"/>
        </p:xfrm>
        <a:graphic>
          <a:graphicData uri="http://schemas.openxmlformats.org/drawingml/2006/table">
            <a:tbl>
              <a:tblPr>
                <a:tableStyleId>{69C7853C-536D-4A76-A0AE-DD22124D55A5}</a:tableStyleId>
              </a:tblPr>
              <a:tblGrid>
                <a:gridCol w="3505200">
                  <a:extLst>
                    <a:ext uri="{9D8B030D-6E8A-4147-A177-3AD203B41FA5}">
                      <a16:colId xmlns:a16="http://schemas.microsoft.com/office/drawing/2014/main" val="2575882094"/>
                    </a:ext>
                  </a:extLst>
                </a:gridCol>
                <a:gridCol w="3505200">
                  <a:extLst>
                    <a:ext uri="{9D8B030D-6E8A-4147-A177-3AD203B41FA5}">
                      <a16:colId xmlns:a16="http://schemas.microsoft.com/office/drawing/2014/main" val="1878702467"/>
                    </a:ext>
                  </a:extLst>
                </a:gridCol>
                <a:gridCol w="3505200">
                  <a:extLst>
                    <a:ext uri="{9D8B030D-6E8A-4147-A177-3AD203B41FA5}">
                      <a16:colId xmlns:a16="http://schemas.microsoft.com/office/drawing/2014/main" val="4279872930"/>
                    </a:ext>
                  </a:extLst>
                </a:gridCol>
              </a:tblGrid>
              <a:tr h="195201">
                <a:tc>
                  <a:txBody>
                    <a:bodyPr/>
                    <a:lstStyle/>
                    <a:p>
                      <a:pPr>
                        <a:buNone/>
                      </a:pPr>
                      <a:r>
                        <a:rPr lang="en-IN" sz="900" dirty="0"/>
                        <a:t>Period</a:t>
                      </a:r>
                    </a:p>
                  </a:txBody>
                  <a:tcPr marL="43953" marR="43953" marT="21976" marB="21976" anchor="ctr">
                    <a:solidFill>
                      <a:srgbClr val="1F2B47"/>
                    </a:solidFill>
                  </a:tcPr>
                </a:tc>
                <a:tc>
                  <a:txBody>
                    <a:bodyPr/>
                    <a:lstStyle/>
                    <a:p>
                      <a:pPr>
                        <a:buNone/>
                      </a:pPr>
                      <a:r>
                        <a:rPr lang="en-IN" sz="1000" b="1">
                          <a:solidFill>
                            <a:srgbClr val="FFFFFF"/>
                          </a:solidFill>
                        </a:rPr>
                        <a:t>Main Goal</a:t>
                      </a:r>
                    </a:p>
                  </a:txBody>
                  <a:tcPr marL="43953" marR="43953" marT="21976" marB="21976" anchor="ctr">
                    <a:solidFill>
                      <a:srgbClr val="1F2B47"/>
                    </a:solidFill>
                  </a:tcPr>
                </a:tc>
                <a:tc>
                  <a:txBody>
                    <a:bodyPr/>
                    <a:lstStyle/>
                    <a:p>
                      <a:pPr>
                        <a:buNone/>
                      </a:pPr>
                      <a:r>
                        <a:rPr lang="en-IN" sz="1000" b="1">
                          <a:solidFill>
                            <a:srgbClr val="FFFFFF"/>
                          </a:solidFill>
                        </a:rPr>
                        <a:t>What the 4 members should finish</a:t>
                      </a:r>
                    </a:p>
                  </a:txBody>
                  <a:tcPr marL="43953" marR="43953" marT="21976" marB="21976" anchor="ctr">
                    <a:solidFill>
                      <a:srgbClr val="1F2B47"/>
                    </a:solidFill>
                  </a:tcPr>
                </a:tc>
                <a:extLst>
                  <a:ext uri="{0D108BD9-81ED-4DB2-BD59-A6C34878D82A}">
                    <a16:rowId xmlns:a16="http://schemas.microsoft.com/office/drawing/2014/main" val="4246244294"/>
                  </a:ext>
                </a:extLst>
              </a:tr>
              <a:tr h="473721">
                <a:tc>
                  <a:txBody>
                    <a:bodyPr/>
                    <a:lstStyle/>
                    <a:p>
                      <a:pPr>
                        <a:buNone/>
                      </a:pPr>
                      <a:r>
                        <a:rPr lang="en-IN" sz="900" b="1" dirty="0"/>
                        <a:t>Before / Review 1</a:t>
                      </a:r>
                      <a:endParaRPr lang="en-IN" sz="900" dirty="0"/>
                    </a:p>
                  </a:txBody>
                  <a:tcPr marL="43953" marR="43953" marT="21976" marB="21976" anchor="ctr">
                    <a:solidFill>
                      <a:srgbClr val="FFFFFF"/>
                    </a:solidFill>
                  </a:tcPr>
                </a:tc>
                <a:tc>
                  <a:txBody>
                    <a:bodyPr/>
                    <a:lstStyle/>
                    <a:p>
                      <a:pPr>
                        <a:buNone/>
                      </a:pPr>
                      <a:r>
                        <a:rPr lang="en-IN" sz="900"/>
                        <a:t>Research &amp; planning</a:t>
                      </a:r>
                    </a:p>
                  </a:txBody>
                  <a:tcPr marL="43953" marR="43953" marT="21976" marB="21976" anchor="ctr">
                    <a:solidFill>
                      <a:srgbClr val="FFFFFF"/>
                    </a:solidFill>
                  </a:tcPr>
                </a:tc>
                <a:tc>
                  <a:txBody>
                    <a:bodyPr/>
                    <a:lstStyle/>
                    <a:p>
                      <a:pPr>
                        <a:buNone/>
                      </a:pPr>
                      <a:r>
                        <a:rPr lang="en-IN" sz="900"/>
                        <a:t>Literature review, problem statement, objectives, hypotheses, datasets, methodology</a:t>
                      </a:r>
                    </a:p>
                  </a:txBody>
                  <a:tcPr marL="43953" marR="43953" marT="21976" marB="21976" anchor="ctr">
                    <a:solidFill>
                      <a:srgbClr val="FFFFFF"/>
                    </a:solidFill>
                  </a:tcPr>
                </a:tc>
                <a:extLst>
                  <a:ext uri="{0D108BD9-81ED-4DB2-BD59-A6C34878D82A}">
                    <a16:rowId xmlns:a16="http://schemas.microsoft.com/office/drawing/2014/main" val="203038730"/>
                  </a:ext>
                </a:extLst>
              </a:tr>
              <a:tr h="343031">
                <a:tc>
                  <a:txBody>
                    <a:bodyPr/>
                    <a:lstStyle/>
                    <a:p>
                      <a:pPr>
                        <a:buNone/>
                      </a:pPr>
                      <a:r>
                        <a:rPr lang="en-IN" sz="900" b="1"/>
                        <a:t>23–30 Aug</a:t>
                      </a:r>
                      <a:endParaRPr lang="en-IN" sz="900"/>
                    </a:p>
                  </a:txBody>
                  <a:tcPr marL="43953" marR="43953" marT="21976" marB="21976" anchor="ctr">
                    <a:solidFill>
                      <a:srgbClr val="EEF2FA"/>
                    </a:solidFill>
                  </a:tcPr>
                </a:tc>
                <a:tc>
                  <a:txBody>
                    <a:bodyPr/>
                    <a:lstStyle/>
                    <a:p>
                      <a:pPr>
                        <a:buNone/>
                      </a:pPr>
                      <a:r>
                        <a:rPr lang="en-IN" sz="900" dirty="0"/>
                        <a:t>Setup &amp; feasibility</a:t>
                      </a:r>
                    </a:p>
                  </a:txBody>
                  <a:tcPr marL="43953" marR="43953" marT="21976" marB="21976" anchor="ctr">
                    <a:solidFill>
                      <a:srgbClr val="EEF2FA"/>
                    </a:solidFill>
                  </a:tcPr>
                </a:tc>
                <a:tc>
                  <a:txBody>
                    <a:bodyPr/>
                    <a:lstStyle/>
                    <a:p>
                      <a:pPr>
                        <a:buNone/>
                      </a:pPr>
                      <a:r>
                        <a:rPr lang="en-IN" sz="900"/>
                        <a:t>Dataset preprocessing, CLIP baseline, VL-JEPA feasibility test</a:t>
                      </a:r>
                    </a:p>
                  </a:txBody>
                  <a:tcPr marL="43953" marR="43953" marT="21976" marB="21976" anchor="ctr">
                    <a:solidFill>
                      <a:srgbClr val="EEF2FA"/>
                    </a:solidFill>
                  </a:tcPr>
                </a:tc>
                <a:extLst>
                  <a:ext uri="{0D108BD9-81ED-4DB2-BD59-A6C34878D82A}">
                    <a16:rowId xmlns:a16="http://schemas.microsoft.com/office/drawing/2014/main" val="2999266216"/>
                  </a:ext>
                </a:extLst>
              </a:tr>
              <a:tr h="195201">
                <a:tc>
                  <a:txBody>
                    <a:bodyPr/>
                    <a:lstStyle/>
                    <a:p>
                      <a:pPr>
                        <a:buNone/>
                      </a:pPr>
                      <a:r>
                        <a:rPr lang="en-IN" sz="900" b="1"/>
                        <a:t>1–7 Sep</a:t>
                      </a:r>
                      <a:endParaRPr lang="en-IN" sz="900"/>
                    </a:p>
                  </a:txBody>
                  <a:tcPr marL="43953" marR="43953" marT="21976" marB="21976" anchor="ctr">
                    <a:solidFill>
                      <a:srgbClr val="FFFFFF"/>
                    </a:solidFill>
                  </a:tcPr>
                </a:tc>
                <a:tc>
                  <a:txBody>
                    <a:bodyPr/>
                    <a:lstStyle/>
                    <a:p>
                      <a:pPr>
                        <a:buNone/>
                      </a:pPr>
                      <a:r>
                        <a:rPr lang="en-IN" sz="900"/>
                        <a:t>Baseline implementation</a:t>
                      </a:r>
                    </a:p>
                  </a:txBody>
                  <a:tcPr marL="43953" marR="43953" marT="21976" marB="21976" anchor="ctr">
                    <a:solidFill>
                      <a:srgbClr val="FFFFFF"/>
                    </a:solidFill>
                  </a:tcPr>
                </a:tc>
                <a:tc>
                  <a:txBody>
                    <a:bodyPr/>
                    <a:lstStyle/>
                    <a:p>
                      <a:pPr>
                        <a:buNone/>
                      </a:pPr>
                      <a:r>
                        <a:rPr lang="en-IN" sz="900"/>
                        <a:t>CLIP embeddings + retrieval + FAISS</a:t>
                      </a:r>
                    </a:p>
                  </a:txBody>
                  <a:tcPr marL="43953" marR="43953" marT="21976" marB="21976" anchor="ctr">
                    <a:solidFill>
                      <a:srgbClr val="FFFFFF"/>
                    </a:solidFill>
                  </a:tcPr>
                </a:tc>
                <a:extLst>
                  <a:ext uri="{0D108BD9-81ED-4DB2-BD59-A6C34878D82A}">
                    <a16:rowId xmlns:a16="http://schemas.microsoft.com/office/drawing/2014/main" val="1337408498"/>
                  </a:ext>
                </a:extLst>
              </a:tr>
              <a:tr h="343031">
                <a:tc>
                  <a:txBody>
                    <a:bodyPr/>
                    <a:lstStyle/>
                    <a:p>
                      <a:pPr>
                        <a:buNone/>
                      </a:pPr>
                      <a:r>
                        <a:rPr lang="en-IN" sz="900" b="1"/>
                        <a:t>8–14 Sep</a:t>
                      </a:r>
                      <a:endParaRPr lang="en-IN" sz="900"/>
                    </a:p>
                  </a:txBody>
                  <a:tcPr marL="43953" marR="43953" marT="21976" marB="21976" anchor="ctr">
                    <a:solidFill>
                      <a:srgbClr val="EEF2FA"/>
                    </a:solidFill>
                  </a:tcPr>
                </a:tc>
                <a:tc>
                  <a:txBody>
                    <a:bodyPr/>
                    <a:lstStyle/>
                    <a:p>
                      <a:pPr>
                        <a:buNone/>
                      </a:pPr>
                      <a:r>
                        <a:rPr lang="en-IN" sz="900"/>
                        <a:t>VL-JEPA implementation</a:t>
                      </a:r>
                    </a:p>
                  </a:txBody>
                  <a:tcPr marL="43953" marR="43953" marT="21976" marB="21976" anchor="ctr">
                    <a:solidFill>
                      <a:srgbClr val="EEF2FA"/>
                    </a:solidFill>
                  </a:tcPr>
                </a:tc>
                <a:tc>
                  <a:txBody>
                    <a:bodyPr/>
                    <a:lstStyle/>
                    <a:p>
                      <a:pPr>
                        <a:buNone/>
                      </a:pPr>
                      <a:r>
                        <a:rPr lang="en-IN" sz="900"/>
                        <a:t>Pretrained VL-JEPA inference + embedding extraction</a:t>
                      </a:r>
                    </a:p>
                  </a:txBody>
                  <a:tcPr marL="43953" marR="43953" marT="21976" marB="21976" anchor="ctr">
                    <a:solidFill>
                      <a:srgbClr val="EEF2FA"/>
                    </a:solidFill>
                  </a:tcPr>
                </a:tc>
                <a:extLst>
                  <a:ext uri="{0D108BD9-81ED-4DB2-BD59-A6C34878D82A}">
                    <a16:rowId xmlns:a16="http://schemas.microsoft.com/office/drawing/2014/main" val="2656081874"/>
                  </a:ext>
                </a:extLst>
              </a:tr>
              <a:tr h="195201">
                <a:tc>
                  <a:txBody>
                    <a:bodyPr/>
                    <a:lstStyle/>
                    <a:p>
                      <a:pPr>
                        <a:buNone/>
                      </a:pPr>
                      <a:r>
                        <a:rPr lang="en-IN" sz="900" b="1"/>
                        <a:t>15–21 Sep</a:t>
                      </a:r>
                      <a:endParaRPr lang="en-IN" sz="900"/>
                    </a:p>
                  </a:txBody>
                  <a:tcPr marL="43953" marR="43953" marT="21976" marB="21976" anchor="ctr">
                    <a:solidFill>
                      <a:srgbClr val="FFFFFF"/>
                    </a:solidFill>
                  </a:tcPr>
                </a:tc>
                <a:tc>
                  <a:txBody>
                    <a:bodyPr/>
                    <a:lstStyle/>
                    <a:p>
                      <a:pPr>
                        <a:buNone/>
                      </a:pPr>
                      <a:r>
                        <a:rPr lang="en-IN" sz="900"/>
                        <a:t>Initial experiments</a:t>
                      </a:r>
                    </a:p>
                  </a:txBody>
                  <a:tcPr marL="43953" marR="43953" marT="21976" marB="21976" anchor="ctr">
                    <a:solidFill>
                      <a:srgbClr val="FFFFFF"/>
                    </a:solidFill>
                  </a:tcPr>
                </a:tc>
                <a:tc>
                  <a:txBody>
                    <a:bodyPr/>
                    <a:lstStyle/>
                    <a:p>
                      <a:pPr>
                        <a:buNone/>
                      </a:pPr>
                      <a:r>
                        <a:rPr lang="en-IN" sz="900"/>
                        <a:t>CLIP vs VL-JEPA retrieval results</a:t>
                      </a:r>
                    </a:p>
                  </a:txBody>
                  <a:tcPr marL="43953" marR="43953" marT="21976" marB="21976" anchor="ctr">
                    <a:solidFill>
                      <a:srgbClr val="FFFFFF"/>
                    </a:solidFill>
                  </a:tcPr>
                </a:tc>
                <a:extLst>
                  <a:ext uri="{0D108BD9-81ED-4DB2-BD59-A6C34878D82A}">
                    <a16:rowId xmlns:a16="http://schemas.microsoft.com/office/drawing/2014/main" val="2571316630"/>
                  </a:ext>
                </a:extLst>
              </a:tr>
              <a:tr h="331605">
                <a:tc>
                  <a:txBody>
                    <a:bodyPr/>
                    <a:lstStyle/>
                    <a:p>
                      <a:pPr>
                        <a:buNone/>
                      </a:pPr>
                      <a:r>
                        <a:rPr lang="en-IN" sz="900" b="1"/>
                        <a:t>22–28 Sep</a:t>
                      </a:r>
                      <a:endParaRPr lang="en-IN" sz="900"/>
                    </a:p>
                  </a:txBody>
                  <a:tcPr marL="43953" marR="43953" marT="21976" marB="21976" anchor="ctr">
                    <a:solidFill>
                      <a:srgbClr val="EEF2FA"/>
                    </a:solidFill>
                  </a:tcPr>
                </a:tc>
                <a:tc>
                  <a:txBody>
                    <a:bodyPr/>
                    <a:lstStyle/>
                    <a:p>
                      <a:pPr>
                        <a:buNone/>
                      </a:pPr>
                      <a:r>
                        <a:rPr lang="en-IN" sz="900"/>
                        <a:t>Prepare Review 2</a:t>
                      </a:r>
                    </a:p>
                  </a:txBody>
                  <a:tcPr marL="43953" marR="43953" marT="21976" marB="21976" anchor="ctr">
                    <a:solidFill>
                      <a:srgbClr val="EEF2FA"/>
                    </a:solidFill>
                  </a:tcPr>
                </a:tc>
                <a:tc>
                  <a:txBody>
                    <a:bodyPr/>
                    <a:lstStyle/>
                    <a:p>
                      <a:pPr>
                        <a:buNone/>
                      </a:pPr>
                      <a:r>
                        <a:rPr lang="en-IN" sz="900"/>
                        <a:t>Results, graphs, methodology, preliminary demo</a:t>
                      </a:r>
                    </a:p>
                  </a:txBody>
                  <a:tcPr marL="43953" marR="43953" marT="21976" marB="21976" anchor="ctr">
                    <a:solidFill>
                      <a:srgbClr val="EEF2FA"/>
                    </a:solidFill>
                  </a:tcPr>
                </a:tc>
                <a:extLst>
                  <a:ext uri="{0D108BD9-81ED-4DB2-BD59-A6C34878D82A}">
                    <a16:rowId xmlns:a16="http://schemas.microsoft.com/office/drawing/2014/main" val="653395755"/>
                  </a:ext>
                </a:extLst>
              </a:tr>
              <a:tr h="331605">
                <a:tc>
                  <a:txBody>
                    <a:bodyPr/>
                    <a:lstStyle/>
                    <a:p>
                      <a:pPr>
                        <a:buNone/>
                      </a:pPr>
                      <a:r>
                        <a:rPr lang="en-IN" sz="900" b="1"/>
                        <a:t>29 Sep–3 Oct</a:t>
                      </a:r>
                      <a:endParaRPr lang="en-IN" sz="900"/>
                    </a:p>
                  </a:txBody>
                  <a:tcPr marL="43953" marR="43953" marT="21976" marB="21976" anchor="ctr">
                    <a:solidFill>
                      <a:srgbClr val="FFFFFF"/>
                    </a:solidFill>
                  </a:tcPr>
                </a:tc>
                <a:tc>
                  <a:txBody>
                    <a:bodyPr/>
                    <a:lstStyle/>
                    <a:p>
                      <a:pPr>
                        <a:buNone/>
                      </a:pPr>
                      <a:r>
                        <a:rPr lang="en-IN" sz="900" b="1"/>
                        <a:t>Review 2</a:t>
                      </a:r>
                      <a:endParaRPr lang="en-IN" sz="900"/>
                    </a:p>
                  </a:txBody>
                  <a:tcPr marL="43953" marR="43953" marT="21976" marB="21976" anchor="ctr">
                    <a:solidFill>
                      <a:srgbClr val="FFFFFF"/>
                    </a:solidFill>
                  </a:tcPr>
                </a:tc>
                <a:tc>
                  <a:txBody>
                    <a:bodyPr/>
                    <a:lstStyle/>
                    <a:p>
                      <a:pPr>
                        <a:buNone/>
                      </a:pPr>
                      <a:r>
                        <a:rPr lang="en-IN" sz="900"/>
                        <a:t>Working prototype + preliminary results</a:t>
                      </a:r>
                    </a:p>
                  </a:txBody>
                  <a:tcPr marL="43953" marR="43953" marT="21976" marB="21976" anchor="ctr">
                    <a:solidFill>
                      <a:srgbClr val="FFFFFF"/>
                    </a:solidFill>
                  </a:tcPr>
                </a:tc>
                <a:extLst>
                  <a:ext uri="{0D108BD9-81ED-4DB2-BD59-A6C34878D82A}">
                    <a16:rowId xmlns:a16="http://schemas.microsoft.com/office/drawing/2014/main" val="4218160744"/>
                  </a:ext>
                </a:extLst>
              </a:tr>
              <a:tr h="343031">
                <a:tc>
                  <a:txBody>
                    <a:bodyPr/>
                    <a:lstStyle/>
                    <a:p>
                      <a:pPr>
                        <a:buNone/>
                      </a:pPr>
                      <a:r>
                        <a:rPr lang="en-IN" sz="900" b="1"/>
                        <a:t>4–15 Oct</a:t>
                      </a:r>
                      <a:endParaRPr lang="en-IN" sz="900"/>
                    </a:p>
                  </a:txBody>
                  <a:tcPr marL="43953" marR="43953" marT="21976" marB="21976" anchor="ctr">
                    <a:solidFill>
                      <a:srgbClr val="EEF2FA"/>
                    </a:solidFill>
                  </a:tcPr>
                </a:tc>
                <a:tc>
                  <a:txBody>
                    <a:bodyPr/>
                    <a:lstStyle/>
                    <a:p>
                      <a:pPr>
                        <a:buNone/>
                      </a:pPr>
                      <a:r>
                        <a:rPr lang="en-IN" sz="900"/>
                        <a:t>Main experiments</a:t>
                      </a:r>
                    </a:p>
                  </a:txBody>
                  <a:tcPr marL="43953" marR="43953" marT="21976" marB="21976" anchor="ctr">
                    <a:solidFill>
                      <a:srgbClr val="EEF2FA"/>
                    </a:solidFill>
                  </a:tcPr>
                </a:tc>
                <a:tc>
                  <a:txBody>
                    <a:bodyPr/>
                    <a:lstStyle/>
                    <a:p>
                      <a:pPr>
                        <a:buNone/>
                      </a:pPr>
                      <a:r>
                        <a:rPr lang="en-IN" sz="900"/>
                        <a:t>Full retrieval + cross-camera/dataset generalization</a:t>
                      </a:r>
                    </a:p>
                  </a:txBody>
                  <a:tcPr marL="43953" marR="43953" marT="21976" marB="21976" anchor="ctr">
                    <a:solidFill>
                      <a:srgbClr val="EEF2FA"/>
                    </a:solidFill>
                  </a:tcPr>
                </a:tc>
                <a:extLst>
                  <a:ext uri="{0D108BD9-81ED-4DB2-BD59-A6C34878D82A}">
                    <a16:rowId xmlns:a16="http://schemas.microsoft.com/office/drawing/2014/main" val="1502895350"/>
                  </a:ext>
                </a:extLst>
              </a:tr>
              <a:tr h="473721">
                <a:tc>
                  <a:txBody>
                    <a:bodyPr/>
                    <a:lstStyle/>
                    <a:p>
                      <a:pPr>
                        <a:buNone/>
                      </a:pPr>
                      <a:r>
                        <a:rPr lang="en-IN" sz="900" b="1"/>
                        <a:t>16–25 Oct</a:t>
                      </a:r>
                      <a:endParaRPr lang="en-IN" sz="900"/>
                    </a:p>
                  </a:txBody>
                  <a:tcPr marL="43953" marR="43953" marT="21976" marB="21976" anchor="ctr">
                    <a:solidFill>
                      <a:srgbClr val="FFFFFF"/>
                    </a:solidFill>
                  </a:tcPr>
                </a:tc>
                <a:tc>
                  <a:txBody>
                    <a:bodyPr/>
                    <a:lstStyle/>
                    <a:p>
                      <a:pPr>
                        <a:buNone/>
                      </a:pPr>
                      <a:r>
                        <a:rPr lang="en-IN" sz="900"/>
                        <a:t>Faithfulness study</a:t>
                      </a:r>
                    </a:p>
                  </a:txBody>
                  <a:tcPr marL="43953" marR="43953" marT="21976" marB="21976" anchor="ctr">
                    <a:solidFill>
                      <a:srgbClr val="FFFFFF"/>
                    </a:solidFill>
                  </a:tcPr>
                </a:tc>
                <a:tc>
                  <a:txBody>
                    <a:bodyPr/>
                    <a:lstStyle/>
                    <a:p>
                      <a:pPr>
                        <a:buNone/>
                      </a:pPr>
                      <a:r>
                        <a:rPr lang="en-IN" sz="900"/>
                        <a:t>LLM reports + hallucination/faithfulness evaluation</a:t>
                      </a:r>
                    </a:p>
                  </a:txBody>
                  <a:tcPr marL="43953" marR="43953" marT="21976" marB="21976" anchor="ctr">
                    <a:solidFill>
                      <a:srgbClr val="FFFFFF"/>
                    </a:solidFill>
                  </a:tcPr>
                </a:tc>
                <a:extLst>
                  <a:ext uri="{0D108BD9-81ED-4DB2-BD59-A6C34878D82A}">
                    <a16:rowId xmlns:a16="http://schemas.microsoft.com/office/drawing/2014/main" val="1279116316"/>
                  </a:ext>
                </a:extLst>
              </a:tr>
              <a:tr h="331605">
                <a:tc>
                  <a:txBody>
                    <a:bodyPr/>
                    <a:lstStyle/>
                    <a:p>
                      <a:pPr>
                        <a:buNone/>
                      </a:pPr>
                      <a:r>
                        <a:rPr lang="en-IN" sz="900" b="1"/>
                        <a:t>26 Oct–5 Nov</a:t>
                      </a:r>
                      <a:endParaRPr lang="en-IN" sz="900"/>
                    </a:p>
                  </a:txBody>
                  <a:tcPr marL="43953" marR="43953" marT="21976" marB="21976" anchor="ctr">
                    <a:solidFill>
                      <a:srgbClr val="EEF2FA"/>
                    </a:solidFill>
                  </a:tcPr>
                </a:tc>
                <a:tc>
                  <a:txBody>
                    <a:bodyPr/>
                    <a:lstStyle/>
                    <a:p>
                      <a:pPr>
                        <a:buNone/>
                      </a:pPr>
                      <a:r>
                        <a:rPr lang="en-IN" sz="900" dirty="0"/>
                        <a:t>Analysis</a:t>
                      </a:r>
                    </a:p>
                  </a:txBody>
                  <a:tcPr marL="43953" marR="43953" marT="21976" marB="21976" anchor="ctr">
                    <a:solidFill>
                      <a:srgbClr val="EEF2FA"/>
                    </a:solidFill>
                  </a:tcPr>
                </a:tc>
                <a:tc>
                  <a:txBody>
                    <a:bodyPr/>
                    <a:lstStyle/>
                    <a:p>
                      <a:pPr>
                        <a:buNone/>
                      </a:pPr>
                      <a:r>
                        <a:rPr lang="en-IN" sz="900"/>
                        <a:t>Final metrics, comparisons, ablations, graphs</a:t>
                      </a:r>
                    </a:p>
                  </a:txBody>
                  <a:tcPr marL="43953" marR="43953" marT="21976" marB="21976" anchor="ctr">
                    <a:solidFill>
                      <a:srgbClr val="EEF2FA"/>
                    </a:solidFill>
                  </a:tcPr>
                </a:tc>
                <a:extLst>
                  <a:ext uri="{0D108BD9-81ED-4DB2-BD59-A6C34878D82A}">
                    <a16:rowId xmlns:a16="http://schemas.microsoft.com/office/drawing/2014/main" val="768173060"/>
                  </a:ext>
                </a:extLst>
              </a:tr>
              <a:tr h="331605">
                <a:tc>
                  <a:txBody>
                    <a:bodyPr/>
                    <a:lstStyle/>
                    <a:p>
                      <a:pPr>
                        <a:buNone/>
                      </a:pPr>
                      <a:r>
                        <a:rPr lang="en-IN" sz="900" b="1"/>
                        <a:t>6–12 Nov</a:t>
                      </a:r>
                      <a:endParaRPr lang="en-IN" sz="900"/>
                    </a:p>
                  </a:txBody>
                  <a:tcPr marL="43953" marR="43953" marT="21976" marB="21976" anchor="ctr">
                    <a:solidFill>
                      <a:srgbClr val="FFFFFF"/>
                    </a:solidFill>
                  </a:tcPr>
                </a:tc>
                <a:tc>
                  <a:txBody>
                    <a:bodyPr/>
                    <a:lstStyle/>
                    <a:p>
                      <a:pPr>
                        <a:buNone/>
                      </a:pPr>
                      <a:r>
                        <a:rPr lang="en-IN" sz="900"/>
                        <a:t>System/demo</a:t>
                      </a:r>
                    </a:p>
                  </a:txBody>
                  <a:tcPr marL="43953" marR="43953" marT="21976" marB="21976" anchor="ctr">
                    <a:solidFill>
                      <a:srgbClr val="FFFFFF"/>
                    </a:solidFill>
                  </a:tcPr>
                </a:tc>
                <a:tc>
                  <a:txBody>
                    <a:bodyPr/>
                    <a:lstStyle/>
                    <a:p>
                      <a:pPr>
                        <a:buNone/>
                      </a:pPr>
                      <a:r>
                        <a:rPr lang="en-IN" sz="900" dirty="0"/>
                        <a:t>Integrate retrieval + report generation + simple UI</a:t>
                      </a:r>
                    </a:p>
                  </a:txBody>
                  <a:tcPr marL="43953" marR="43953" marT="21976" marB="21976" anchor="ctr">
                    <a:solidFill>
                      <a:srgbClr val="FFFFFF"/>
                    </a:solidFill>
                  </a:tcPr>
                </a:tc>
                <a:extLst>
                  <a:ext uri="{0D108BD9-81ED-4DB2-BD59-A6C34878D82A}">
                    <a16:rowId xmlns:a16="http://schemas.microsoft.com/office/drawing/2014/main" val="1610476084"/>
                  </a:ext>
                </a:extLst>
              </a:tr>
              <a:tr h="331605">
                <a:tc>
                  <a:txBody>
                    <a:bodyPr/>
                    <a:lstStyle/>
                    <a:p>
                      <a:pPr>
                        <a:buNone/>
                      </a:pPr>
                      <a:r>
                        <a:rPr lang="en-IN" sz="900" b="1"/>
                        <a:t>13–16 Nov</a:t>
                      </a:r>
                      <a:endParaRPr lang="en-IN" sz="900"/>
                    </a:p>
                  </a:txBody>
                  <a:tcPr marL="43953" marR="43953" marT="21976" marB="21976" anchor="ctr">
                    <a:solidFill>
                      <a:srgbClr val="EEF2FA"/>
                    </a:solidFill>
                  </a:tcPr>
                </a:tc>
                <a:tc>
                  <a:txBody>
                    <a:bodyPr/>
                    <a:lstStyle/>
                    <a:p>
                      <a:pPr>
                        <a:buNone/>
                      </a:pPr>
                      <a:r>
                        <a:rPr lang="en-IN" sz="900"/>
                        <a:t>Final preparation</a:t>
                      </a:r>
                    </a:p>
                  </a:txBody>
                  <a:tcPr marL="43953" marR="43953" marT="21976" marB="21976" anchor="ctr">
                    <a:solidFill>
                      <a:srgbClr val="EEF2FA"/>
                    </a:solidFill>
                  </a:tcPr>
                </a:tc>
                <a:tc>
                  <a:txBody>
                    <a:bodyPr/>
                    <a:lstStyle/>
                    <a:p>
                      <a:pPr>
                        <a:buNone/>
                      </a:pPr>
                      <a:r>
                        <a:rPr lang="en-IN" sz="900"/>
                        <a:t>Testing, documentation, presentation, poster</a:t>
                      </a:r>
                    </a:p>
                  </a:txBody>
                  <a:tcPr marL="43953" marR="43953" marT="21976" marB="21976" anchor="ctr">
                    <a:solidFill>
                      <a:srgbClr val="EEF2FA"/>
                    </a:solidFill>
                  </a:tcPr>
                </a:tc>
                <a:extLst>
                  <a:ext uri="{0D108BD9-81ED-4DB2-BD59-A6C34878D82A}">
                    <a16:rowId xmlns:a16="http://schemas.microsoft.com/office/drawing/2014/main" val="3071918084"/>
                  </a:ext>
                </a:extLst>
              </a:tr>
              <a:tr h="195201">
                <a:tc>
                  <a:txBody>
                    <a:bodyPr/>
                    <a:lstStyle/>
                    <a:p>
                      <a:pPr>
                        <a:buNone/>
                      </a:pPr>
                      <a:r>
                        <a:rPr lang="en-IN" sz="900" b="1"/>
                        <a:t>17–21 Nov</a:t>
                      </a:r>
                      <a:endParaRPr lang="en-IN" sz="900"/>
                    </a:p>
                  </a:txBody>
                  <a:tcPr marL="43953" marR="43953" marT="21976" marB="21976" anchor="ctr">
                    <a:solidFill>
                      <a:srgbClr val="FFFFFF"/>
                    </a:solidFill>
                  </a:tcPr>
                </a:tc>
                <a:tc>
                  <a:txBody>
                    <a:bodyPr/>
                    <a:lstStyle/>
                    <a:p>
                      <a:pPr>
                        <a:buNone/>
                      </a:pPr>
                      <a:r>
                        <a:rPr lang="en-IN" sz="900" b="1"/>
                        <a:t>Final Review</a:t>
                      </a:r>
                      <a:endParaRPr lang="en-IN" sz="900"/>
                    </a:p>
                  </a:txBody>
                  <a:tcPr marL="43953" marR="43953" marT="21976" marB="21976" anchor="ctr">
                    <a:solidFill>
                      <a:srgbClr val="FFFFFF"/>
                    </a:solidFill>
                  </a:tcPr>
                </a:tc>
                <a:tc>
                  <a:txBody>
                    <a:bodyPr/>
                    <a:lstStyle/>
                    <a:p>
                      <a:pPr>
                        <a:buNone/>
                      </a:pPr>
                      <a:r>
                        <a:rPr lang="en-IN" sz="900"/>
                        <a:t>Final system + research findings</a:t>
                      </a:r>
                    </a:p>
                  </a:txBody>
                  <a:tcPr marL="43953" marR="43953" marT="21976" marB="21976" anchor="ctr">
                    <a:solidFill>
                      <a:srgbClr val="FFFFFF"/>
                    </a:solidFill>
                  </a:tcPr>
                </a:tc>
                <a:extLst>
                  <a:ext uri="{0D108BD9-81ED-4DB2-BD59-A6C34878D82A}">
                    <a16:rowId xmlns:a16="http://schemas.microsoft.com/office/drawing/2014/main" val="1385384437"/>
                  </a:ext>
                </a:extLst>
              </a:tr>
              <a:tr h="331605">
                <a:tc>
                  <a:txBody>
                    <a:bodyPr/>
                    <a:lstStyle/>
                    <a:p>
                      <a:pPr>
                        <a:buNone/>
                      </a:pPr>
                      <a:r>
                        <a:rPr lang="en-IN" sz="900" b="1"/>
                        <a:t>By 20 Nov</a:t>
                      </a:r>
                      <a:endParaRPr lang="en-IN" sz="900"/>
                    </a:p>
                  </a:txBody>
                  <a:tcPr marL="43953" marR="43953" marT="21976" marB="21976" anchor="ctr">
                    <a:solidFill>
                      <a:srgbClr val="EEF2FA"/>
                    </a:solidFill>
                  </a:tcPr>
                </a:tc>
                <a:tc>
                  <a:txBody>
                    <a:bodyPr/>
                    <a:lstStyle/>
                    <a:p>
                      <a:pPr>
                        <a:buNone/>
                      </a:pPr>
                      <a:r>
                        <a:rPr lang="en-IN" sz="900"/>
                        <a:t>Submission</a:t>
                      </a:r>
                    </a:p>
                  </a:txBody>
                  <a:tcPr marL="43953" marR="43953" marT="21976" marB="21976" anchor="ctr">
                    <a:solidFill>
                      <a:srgbClr val="EEF2FA"/>
                    </a:solidFill>
                  </a:tcPr>
                </a:tc>
                <a:tc>
                  <a:txBody>
                    <a:bodyPr/>
                    <a:lstStyle/>
                    <a:p>
                      <a:pPr>
                        <a:buNone/>
                      </a:pPr>
                      <a:r>
                        <a:rPr lang="en-IN" sz="900" dirty="0"/>
                        <a:t>Final report, poster, supporting material</a:t>
                      </a:r>
                    </a:p>
                  </a:txBody>
                  <a:tcPr marL="43953" marR="43953" marT="21976" marB="21976" anchor="ctr">
                    <a:solidFill>
                      <a:srgbClr val="EEF2FA"/>
                    </a:solidFill>
                  </a:tcPr>
                </a:tc>
                <a:extLst>
                  <a:ext uri="{0D108BD9-81ED-4DB2-BD59-A6C34878D82A}">
                    <a16:rowId xmlns:a16="http://schemas.microsoft.com/office/drawing/2014/main" val="2023538481"/>
                  </a:ext>
                </a:extLst>
              </a:tr>
            </a:tbl>
          </a:graphicData>
        </a:graphic>
      </p:graphicFrame>
    </p:spTree>
    <p:extLst>
      <p:ext uri="{BB962C8B-B14F-4D97-AF65-F5344CB8AC3E}">
        <p14:creationId xmlns:p14="http://schemas.microsoft.com/office/powerpoint/2010/main" val="3477998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Badge"/>
          <p:cNvSpPr/>
          <p:nvPr/>
        </p:nvSpPr>
        <p:spPr>
          <a:xfrm>
            <a:off x="838200" y="526565"/>
            <a:ext cx="560000" cy="560000"/>
          </a:xfrm>
          <a:prstGeom prst="ellipse">
            <a:avLst/>
          </a:prstGeom>
          <a:solidFill>
            <a:srgbClr val="4472C4"/>
          </a:solidFill>
          <a:ln>
            <a:noFill/>
          </a:ln>
        </p:spPr>
        <p:txBody>
          <a:bodyPr lIns="0" tIns="0" rIns="0" bIns="0" anchor="ctr"/>
          <a:lstStyle/>
          <a:p>
            <a:pPr algn="ctr"/>
            <a:r>
              <a:rPr lang="en-US" sz="1400" b="1" dirty="0">
                <a:solidFill>
                  <a:schemeClr val="bg1"/>
                </a:solidFill>
              </a:rPr>
              <a:t>10</a:t>
            </a:r>
          </a:p>
        </p:txBody>
      </p:sp>
      <p:sp>
        <p:nvSpPr>
          <p:cNvPr id="2" name="Title 1"/>
          <p:cNvSpPr>
            <a:spLocks noGrp="1"/>
          </p:cNvSpPr>
          <p:nvPr>
            <p:ph type="title"/>
          </p:nvPr>
        </p:nvSpPr>
        <p:spPr>
          <a:xfrm>
            <a:off x="1618200" y="456565"/>
            <a:ext cx="9735600" cy="700000"/>
          </a:xfrm>
        </p:spPr>
        <p:txBody>
          <a:bodyPr anchor="ctr">
            <a:noAutofit/>
          </a:bodyPr>
          <a:lstStyle/>
          <a:p>
            <a:r>
              <a:rPr lang="en-US" sz="3400" b="1" dirty="0">
                <a:solidFill>
                  <a:srgbClr val="1F2B47"/>
                </a:solidFill>
              </a:rPr>
              <a:t>Data</a:t>
            </a:r>
          </a:p>
        </p:txBody>
      </p:sp>
      <p:sp>
        <p:nvSpPr>
          <p:cNvPr id="95" name="Card"/>
          <p:cNvSpPr/>
          <p:nvPr/>
        </p:nvSpPr>
        <p:spPr>
          <a:xfrm>
            <a:off x="838200" y="1400000"/>
            <a:ext cx="10515600" cy="4200000"/>
          </a:xfrm>
          <a:prstGeom prst="roundRect">
            <a:avLst>
              <a:gd name="adj" fmla="val 3000"/>
            </a:avLst>
          </a:prstGeom>
          <a:solidFill>
            <a:srgbClr val="F2F5FC"/>
          </a:solidFill>
          <a:ln>
            <a:noFill/>
          </a:ln>
          <a:effectLst>
            <a:outerShdw blurRad="90000" dist="30000" dir="5400000" rotWithShape="0">
              <a:srgbClr val="1F2B47">
                <a:alpha val="10000"/>
              </a:srgbClr>
            </a:outerShdw>
          </a:effectLst>
        </p:spPr>
        <p:txBody>
          <a:bodyPr/>
          <a:lstStyle/>
          <a:p>
            <a:endParaRPr lang="en-US"/>
          </a:p>
        </p:txBody>
      </p:sp>
      <p:sp>
        <p:nvSpPr>
          <p:cNvPr id="400" name="Dot"/>
          <p:cNvSpPr/>
          <p:nvPr/>
        </p:nvSpPr>
        <p:spPr>
          <a:xfrm>
            <a:off x="1238200" y="1760000"/>
            <a:ext cx="160000" cy="160000"/>
          </a:xfrm>
          <a:prstGeom prst="ellipse">
            <a:avLst/>
          </a:prstGeom>
          <a:solidFill>
            <a:srgbClr val="ED7D31"/>
          </a:solidFill>
          <a:ln>
            <a:noFill/>
          </a:ln>
        </p:spPr>
        <p:txBody>
          <a:bodyPr/>
          <a:lstStyle/>
          <a:p>
            <a:endParaRPr lang="en-US"/>
          </a:p>
        </p:txBody>
      </p:sp>
      <p:sp>
        <p:nvSpPr>
          <p:cNvPr id="401" name="URL"/>
          <p:cNvSpPr txBox="1"/>
          <p:nvPr/>
        </p:nvSpPr>
        <p:spPr>
          <a:xfrm>
            <a:off x="1648200" y="1550000"/>
            <a:ext cx="9305600" cy="580000"/>
          </a:xfrm>
          <a:prstGeom prst="rect">
            <a:avLst/>
          </a:prstGeom>
          <a:noFill/>
        </p:spPr>
        <p:txBody>
          <a:bodyPr wrap="square" anchor="ctr">
            <a:noAutofit/>
          </a:bodyPr>
          <a:lstStyle/>
          <a:p>
            <a:r>
              <a:rPr lang="en-IN" sz="1500" dirty="0">
                <a:solidFill>
                  <a:srgbClr val="4472C4"/>
                </a:solidFill>
              </a:rPr>
              <a:t>https://www.crcv.ucf.edu/research/data-sets/</a:t>
            </a:r>
          </a:p>
        </p:txBody>
      </p:sp>
      <p:sp>
        <p:nvSpPr>
          <p:cNvPr id="402" name="Dot"/>
          <p:cNvSpPr/>
          <p:nvPr/>
        </p:nvSpPr>
        <p:spPr>
          <a:xfrm>
            <a:off x="1238200" y="2540000"/>
            <a:ext cx="160000" cy="160000"/>
          </a:xfrm>
          <a:prstGeom prst="ellipse">
            <a:avLst/>
          </a:prstGeom>
          <a:solidFill>
            <a:srgbClr val="ED7D31"/>
          </a:solidFill>
          <a:ln>
            <a:noFill/>
          </a:ln>
        </p:spPr>
        <p:txBody>
          <a:bodyPr/>
          <a:lstStyle/>
          <a:p>
            <a:endParaRPr lang="en-US"/>
          </a:p>
        </p:txBody>
      </p:sp>
      <p:sp>
        <p:nvSpPr>
          <p:cNvPr id="403" name="URL"/>
          <p:cNvSpPr txBox="1"/>
          <p:nvPr/>
        </p:nvSpPr>
        <p:spPr>
          <a:xfrm>
            <a:off x="1648200" y="2330000"/>
            <a:ext cx="9305600" cy="580000"/>
          </a:xfrm>
          <a:prstGeom prst="rect">
            <a:avLst/>
          </a:prstGeom>
          <a:noFill/>
        </p:spPr>
        <p:txBody>
          <a:bodyPr wrap="square" anchor="ctr">
            <a:noAutofit/>
          </a:bodyPr>
          <a:lstStyle/>
          <a:p>
            <a:r>
              <a:rPr lang="en-IN" sz="1500" dirty="0">
                <a:solidFill>
                  <a:srgbClr val="4472C4"/>
                </a:solidFill>
              </a:rPr>
              <a:t>https://viratdata.org/?utm_source=chatgpt.com</a:t>
            </a:r>
          </a:p>
        </p:txBody>
      </p:sp>
      <p:sp>
        <p:nvSpPr>
          <p:cNvPr id="404" name="Dot"/>
          <p:cNvSpPr/>
          <p:nvPr/>
        </p:nvSpPr>
        <p:spPr>
          <a:xfrm>
            <a:off x="1238200" y="3320000"/>
            <a:ext cx="160000" cy="160000"/>
          </a:xfrm>
          <a:prstGeom prst="ellipse">
            <a:avLst/>
          </a:prstGeom>
          <a:solidFill>
            <a:srgbClr val="ED7D31"/>
          </a:solidFill>
          <a:ln>
            <a:noFill/>
          </a:ln>
        </p:spPr>
        <p:txBody>
          <a:bodyPr/>
          <a:lstStyle/>
          <a:p>
            <a:endParaRPr lang="en-US"/>
          </a:p>
        </p:txBody>
      </p:sp>
      <p:sp>
        <p:nvSpPr>
          <p:cNvPr id="405" name="URL"/>
          <p:cNvSpPr txBox="1"/>
          <p:nvPr/>
        </p:nvSpPr>
        <p:spPr>
          <a:xfrm>
            <a:off x="1648200" y="3110000"/>
            <a:ext cx="9305600" cy="580000"/>
          </a:xfrm>
          <a:prstGeom prst="rect">
            <a:avLst/>
          </a:prstGeom>
          <a:noFill/>
        </p:spPr>
        <p:txBody>
          <a:bodyPr wrap="square" anchor="ctr">
            <a:noAutofit/>
          </a:bodyPr>
          <a:lstStyle/>
          <a:p>
            <a:r>
              <a:rPr lang="en-IN" sz="1500" dirty="0">
                <a:solidFill>
                  <a:srgbClr val="4472C4"/>
                </a:solidFill>
              </a:rPr>
              <a:t>https://github.com/ahmadmughees/SH17dataset?utm_source=chatgpt.com</a:t>
            </a:r>
          </a:p>
        </p:txBody>
      </p:sp>
      <p:sp>
        <p:nvSpPr>
          <p:cNvPr id="406" name="Dot"/>
          <p:cNvSpPr/>
          <p:nvPr/>
        </p:nvSpPr>
        <p:spPr>
          <a:xfrm>
            <a:off x="1238200" y="4100000"/>
            <a:ext cx="160000" cy="160000"/>
          </a:xfrm>
          <a:prstGeom prst="ellipse">
            <a:avLst/>
          </a:prstGeom>
          <a:solidFill>
            <a:srgbClr val="ED7D31"/>
          </a:solidFill>
          <a:ln>
            <a:noFill/>
          </a:ln>
        </p:spPr>
        <p:txBody>
          <a:bodyPr/>
          <a:lstStyle/>
          <a:p>
            <a:endParaRPr lang="en-US"/>
          </a:p>
        </p:txBody>
      </p:sp>
      <p:sp>
        <p:nvSpPr>
          <p:cNvPr id="407" name="URL"/>
          <p:cNvSpPr txBox="1"/>
          <p:nvPr/>
        </p:nvSpPr>
        <p:spPr>
          <a:xfrm>
            <a:off x="1648200" y="3890000"/>
            <a:ext cx="9305600" cy="580000"/>
          </a:xfrm>
          <a:prstGeom prst="rect">
            <a:avLst/>
          </a:prstGeom>
          <a:noFill/>
        </p:spPr>
        <p:txBody>
          <a:bodyPr wrap="square" anchor="ctr">
            <a:noAutofit/>
          </a:bodyPr>
          <a:lstStyle/>
          <a:p>
            <a:r>
              <a:rPr lang="en-IN" sz="1500" dirty="0">
                <a:solidFill>
                  <a:srgbClr val="4472C4"/>
                </a:solidFill>
              </a:rPr>
              <a:t>https://mevadata.org/index.html?utm_source=chatgpt.com</a:t>
            </a:r>
          </a:p>
        </p:txBody>
      </p:sp>
      <p:sp>
        <p:nvSpPr>
          <p:cNvPr id="408" name="Dot"/>
          <p:cNvSpPr/>
          <p:nvPr/>
        </p:nvSpPr>
        <p:spPr>
          <a:xfrm>
            <a:off x="1238200" y="4880000"/>
            <a:ext cx="160000" cy="160000"/>
          </a:xfrm>
          <a:prstGeom prst="ellipse">
            <a:avLst/>
          </a:prstGeom>
          <a:solidFill>
            <a:srgbClr val="ED7D31"/>
          </a:solidFill>
          <a:ln>
            <a:noFill/>
          </a:ln>
        </p:spPr>
        <p:txBody>
          <a:bodyPr/>
          <a:lstStyle/>
          <a:p>
            <a:endParaRPr lang="en-US"/>
          </a:p>
        </p:txBody>
      </p:sp>
      <p:sp>
        <p:nvSpPr>
          <p:cNvPr id="409" name="URL"/>
          <p:cNvSpPr txBox="1"/>
          <p:nvPr/>
        </p:nvSpPr>
        <p:spPr>
          <a:xfrm>
            <a:off x="1648200" y="4670000"/>
            <a:ext cx="9305600" cy="580000"/>
          </a:xfrm>
          <a:prstGeom prst="rect">
            <a:avLst/>
          </a:prstGeom>
          <a:noFill/>
        </p:spPr>
        <p:txBody>
          <a:bodyPr wrap="square" anchor="ctr">
            <a:noAutofit/>
          </a:bodyPr>
          <a:lstStyle/>
          <a:p>
            <a:r>
              <a:rPr lang="en-IN" sz="1500" dirty="0">
                <a:solidFill>
                  <a:srgbClr val="4472C4"/>
                </a:solidFill>
              </a:rPr>
              <a:t>https://github.com/lilygeorgescu/ubnormal?utm_source=chatgpt.com</a:t>
            </a:r>
          </a:p>
        </p:txBody>
      </p:sp>
    </p:spTree>
    <p:extLst>
      <p:ext uri="{BB962C8B-B14F-4D97-AF65-F5344CB8AC3E}">
        <p14:creationId xmlns:p14="http://schemas.microsoft.com/office/powerpoint/2010/main" val="4061905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1454</Words>
  <Application>Microsoft Office PowerPoint</Application>
  <PresentationFormat>Widescreen</PresentationFormat>
  <Paragraphs>219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Index</vt:lpstr>
      <vt:lpstr>Problem Statement</vt:lpstr>
      <vt:lpstr>Motivation</vt:lpstr>
      <vt:lpstr>Objectives</vt:lpstr>
      <vt:lpstr>Hypothesis</vt:lpstr>
      <vt:lpstr>Problem Survey</vt:lpstr>
      <vt:lpstr>PowerPoint Presentation</vt:lpstr>
      <vt:lpstr>Subject Knowledge</vt:lpstr>
      <vt:lpstr>Technical Requirements</vt:lpstr>
      <vt:lpstr>Timeline</vt:lpstr>
      <vt:lpstr>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Manmohan Reddy</dc:creator>
  <cp:lastModifiedBy>BHAVESH MAKAM</cp:lastModifiedBy>
  <cp:revision>6</cp:revision>
  <dcterms:created xsi:type="dcterms:W3CDTF">2026-08-19T07:16:33Z</dcterms:created>
  <dcterms:modified xsi:type="dcterms:W3CDTF">2026-09-23T15:40:52Z</dcterms:modified>
</cp:coreProperties>
</file>